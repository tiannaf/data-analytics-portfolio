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8" r:id="rId2"/>
    <p:sldId id="283" r:id="rId3"/>
    <p:sldId id="329" r:id="rId4"/>
    <p:sldId id="288" r:id="rId5"/>
    <p:sldId id="3646" r:id="rId6"/>
    <p:sldId id="3647" r:id="rId7"/>
    <p:sldId id="285" r:id="rId8"/>
    <p:sldId id="287" r:id="rId9"/>
    <p:sldId id="284" r:id="rId10"/>
    <p:sldId id="3645" r:id="rId11"/>
  </p:sldIdLst>
  <p:sldSz cx="9144000" cy="5143500" type="screen16x9"/>
  <p:notesSz cx="6858000" cy="9144000"/>
  <p:embeddedFontLst>
    <p:embeddedFont>
      <p:font typeface="Avenir Book" panose="02000503020000020003" pitchFamily="2" charset="0"/>
      <p:regular r:id="rId14"/>
      <p:italic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Corbel" panose="020B05030202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01151F4-799B-A540-AB52-E2CBDF47053D}">
          <p14:sldIdLst>
            <p14:sldId id="278"/>
            <p14:sldId id="283"/>
            <p14:sldId id="329"/>
            <p14:sldId id="288"/>
            <p14:sldId id="3646"/>
            <p14:sldId id="3647"/>
            <p14:sldId id="285"/>
            <p14:sldId id="287"/>
            <p14:sldId id="284"/>
            <p14:sldId id="3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44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1596" userDrawn="1">
          <p15:clr>
            <a:srgbClr val="A4A3A4"/>
          </p15:clr>
        </p15:guide>
        <p15:guide id="4" orient="horz" pos="540" userDrawn="1">
          <p15:clr>
            <a:srgbClr val="A4A3A4"/>
          </p15:clr>
        </p15:guide>
        <p15:guide id="5" pos="4440" userDrawn="1">
          <p15:clr>
            <a:srgbClr val="A4A3A4"/>
          </p15:clr>
        </p15:guide>
        <p15:guide id="6" orient="horz" pos="2580" userDrawn="1">
          <p15:clr>
            <a:srgbClr val="A4A3A4"/>
          </p15:clr>
        </p15:guide>
        <p15:guide id="7" orient="horz" pos="2268" userDrawn="1">
          <p15:clr>
            <a:srgbClr val="A4A3A4"/>
          </p15:clr>
        </p15:guide>
        <p15:guide id="9" orient="horz" pos="2100" userDrawn="1">
          <p15:clr>
            <a:srgbClr val="A4A3A4"/>
          </p15:clr>
        </p15:guide>
        <p15:guide id="10" orient="horz" pos="1716" userDrawn="1">
          <p15:clr>
            <a:srgbClr val="A4A3A4"/>
          </p15:clr>
        </p15:guide>
        <p15:guide id="11" pos="3336" userDrawn="1">
          <p15:clr>
            <a:srgbClr val="A4A3A4"/>
          </p15:clr>
        </p15:guide>
        <p15:guide id="12" orient="horz" pos="1884" userDrawn="1">
          <p15:clr>
            <a:srgbClr val="A4A3A4"/>
          </p15:clr>
        </p15:guide>
        <p15:guide id="13" orient="horz" pos="2700" userDrawn="1">
          <p15:clr>
            <a:srgbClr val="A4A3A4"/>
          </p15:clr>
        </p15:guide>
        <p15:guide id="14" orient="horz" pos="876" userDrawn="1">
          <p15:clr>
            <a:srgbClr val="A4A3A4"/>
          </p15:clr>
        </p15:guide>
        <p15:guide id="15" pos="480" userDrawn="1">
          <p15:clr>
            <a:srgbClr val="A4A3A4"/>
          </p15:clr>
        </p15:guide>
        <p15:guide id="16" pos="1992" userDrawn="1">
          <p15:clr>
            <a:srgbClr val="A4A3A4"/>
          </p15:clr>
        </p15:guide>
        <p15:guide id="17" pos="39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g79zADJdPhZVVSTQPkbw1XGwZG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B3CA"/>
    <a:srgbClr val="8D619F"/>
    <a:srgbClr val="383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411"/>
    <p:restoredTop sz="75859"/>
  </p:normalViewPr>
  <p:slideViewPr>
    <p:cSldViewPr snapToGrid="0">
      <p:cViewPr varScale="1">
        <p:scale>
          <a:sx n="109" d="100"/>
          <a:sy n="109" d="100"/>
        </p:scale>
        <p:origin x="512" y="184"/>
      </p:cViewPr>
      <p:guideLst>
        <p:guide orient="horz" pos="444"/>
        <p:guide pos="312"/>
        <p:guide orient="horz" pos="1596"/>
        <p:guide orient="horz" pos="540"/>
        <p:guide pos="4440"/>
        <p:guide orient="horz" pos="2580"/>
        <p:guide orient="horz" pos="2268"/>
        <p:guide orient="horz" pos="2100"/>
        <p:guide orient="horz" pos="1716"/>
        <p:guide pos="3336"/>
        <p:guide orient="horz" pos="1884"/>
        <p:guide orient="horz" pos="2700"/>
        <p:guide orient="horz" pos="876"/>
        <p:guide pos="480"/>
        <p:guide pos="1992"/>
        <p:guide pos="393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40" d="100"/>
          <a:sy n="140" d="100"/>
        </p:scale>
        <p:origin x="480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CTR</c:v>
                </c:pt>
              </c:strCache>
            </c:strRef>
          </c:tx>
          <c:spPr>
            <a:solidFill>
              <a:srgbClr val="1BB1C9">
                <a:alpha val="50000"/>
              </a:srgbClr>
            </a:solidFill>
            <a:ln>
              <a:noFill/>
            </a:ln>
            <a:effectLst/>
          </c:spP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2.0000000000000001E-4</c:v>
                </c:pt>
                <c:pt idx="1">
                  <c:v>5.9999999999999995E-4</c:v>
                </c:pt>
                <c:pt idx="2">
                  <c:v>1.1000000000000001E-3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65-524A-BF15-80A95A2613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37445544"/>
        <c:axId val="2137449048"/>
      </c:areaChart>
      <c:catAx>
        <c:axId val="21374455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venir Book"/>
                <a:ea typeface="+mn-ea"/>
                <a:cs typeface="Avenir Book"/>
              </a:defRPr>
            </a:pPr>
            <a:endParaRPr lang="en-US"/>
          </a:p>
        </c:txPr>
        <c:crossAx val="2137449048"/>
        <c:crosses val="autoZero"/>
        <c:auto val="1"/>
        <c:lblAlgn val="ctr"/>
        <c:lblOffset val="100"/>
        <c:noMultiLvlLbl val="0"/>
      </c:catAx>
      <c:valAx>
        <c:axId val="2137449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Avenir Book"/>
                <a:ea typeface="+mn-ea"/>
                <a:cs typeface="Avenir Book"/>
              </a:defRPr>
            </a:pPr>
            <a:endParaRPr lang="en-US"/>
          </a:p>
        </c:txPr>
        <c:crossAx val="213744554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venir Book"/>
              <a:ea typeface="+mn-ea"/>
              <a:cs typeface="Avenir Book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Futura Medium" panose="020B0602020204020303" pitchFamily="34" charset="-79"/>
          <a:cs typeface="Futura Medium" panose="020B0602020204020303" pitchFamily="34" charset="-79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CBCE7A-C445-8D41-9981-4241FA4566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FDE0E-6A1C-C74C-8ECE-EA6C00217B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61681E-A0B0-7545-AEED-E8C385F5EA59}" type="datetimeFigureOut">
              <a:rPr lang="en-US" smtClean="0"/>
              <a:t>6/23/24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CBFBA-B9D3-B447-B4C7-1839440F0C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20E48-ECF6-4349-8DAD-476CAC0AA1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7F3DF-207F-6541-B980-C5509C7DA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192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9129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8728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1458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3876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2201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93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2947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0870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8155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swoop.com/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ny Overview" userDrawn="1">
  <p:cSld name="Company Overview">
    <p:bg>
      <p:bgPr>
        <a:solidFill>
          <a:schemeClr val="tx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C896E11-5AA1-8A41-ACB9-A3A0FCA5ECE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539079" y="2664699"/>
            <a:ext cx="502920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10F98884-2E2D-834E-B3E3-8E9EF986E908}"/>
              </a:ext>
            </a:extLst>
          </p:cNvPr>
          <p:cNvGrpSpPr/>
          <p:nvPr userDrawn="1"/>
        </p:nvGrpSpPr>
        <p:grpSpPr>
          <a:xfrm>
            <a:off x="3181677" y="1630682"/>
            <a:ext cx="2780646" cy="939724"/>
            <a:chOff x="3173610" y="1630682"/>
            <a:chExt cx="2780646" cy="939724"/>
          </a:xfrm>
        </p:grpSpPr>
        <p:grpSp>
          <p:nvGrpSpPr>
            <p:cNvPr id="5" name="Graphic 28">
              <a:extLst>
                <a:ext uri="{FF2B5EF4-FFF2-40B4-BE49-F238E27FC236}">
                  <a16:creationId xmlns:a16="http://schemas.microsoft.com/office/drawing/2014/main" id="{C2D7B867-3A04-9544-A896-E914FC5FD857}"/>
                </a:ext>
              </a:extLst>
            </p:cNvPr>
            <p:cNvGrpSpPr/>
            <p:nvPr/>
          </p:nvGrpSpPr>
          <p:grpSpPr>
            <a:xfrm>
              <a:off x="3173610" y="1831184"/>
              <a:ext cx="2780646" cy="739222"/>
              <a:chOff x="3173610" y="1831184"/>
              <a:chExt cx="2780646" cy="739222"/>
            </a:xfrm>
            <a:solidFill>
              <a:schemeClr val="bg1"/>
            </a:solidFill>
          </p:grpSpPr>
          <p:sp>
            <p:nvSpPr>
              <p:cNvPr id="26" name="Graphic 28">
                <a:extLst>
                  <a:ext uri="{FF2B5EF4-FFF2-40B4-BE49-F238E27FC236}">
                    <a16:creationId xmlns:a16="http://schemas.microsoft.com/office/drawing/2014/main" id="{A6FD5A97-8144-2246-8263-4EECA4C9C6F9}"/>
                  </a:ext>
                </a:extLst>
              </p:cNvPr>
              <p:cNvSpPr/>
              <p:nvPr/>
            </p:nvSpPr>
            <p:spPr>
              <a:xfrm>
                <a:off x="3173610" y="1833209"/>
                <a:ext cx="432842" cy="548847"/>
              </a:xfrm>
              <a:custGeom>
                <a:avLst/>
                <a:gdLst>
                  <a:gd name="connsiteX0" fmla="*/ 239733 w 432842"/>
                  <a:gd name="connsiteY0" fmla="*/ 212653 h 548847"/>
                  <a:gd name="connsiteX1" fmla="*/ 136064 w 432842"/>
                  <a:gd name="connsiteY1" fmla="*/ 159996 h 548847"/>
                  <a:gd name="connsiteX2" fmla="*/ 136064 w 432842"/>
                  <a:gd name="connsiteY2" fmla="*/ 157971 h 548847"/>
                  <a:gd name="connsiteX3" fmla="*/ 219406 w 432842"/>
                  <a:gd name="connsiteY3" fmla="*/ 113415 h 548847"/>
                  <a:gd name="connsiteX4" fmla="*/ 333239 w 432842"/>
                  <a:gd name="connsiteY4" fmla="*/ 151895 h 548847"/>
                  <a:gd name="connsiteX5" fmla="*/ 369828 w 432842"/>
                  <a:gd name="connsiteY5" fmla="*/ 159996 h 548847"/>
                  <a:gd name="connsiteX6" fmla="*/ 402351 w 432842"/>
                  <a:gd name="connsiteY6" fmla="*/ 139743 h 548847"/>
                  <a:gd name="connsiteX7" fmla="*/ 412515 w 432842"/>
                  <a:gd name="connsiteY7" fmla="*/ 123541 h 548847"/>
                  <a:gd name="connsiteX8" fmla="*/ 400319 w 432842"/>
                  <a:gd name="connsiteY8" fmla="*/ 56708 h 548847"/>
                  <a:gd name="connsiteX9" fmla="*/ 219406 w 432842"/>
                  <a:gd name="connsiteY9" fmla="*/ 0 h 548847"/>
                  <a:gd name="connsiteX10" fmla="*/ 18165 w 432842"/>
                  <a:gd name="connsiteY10" fmla="*/ 157971 h 548847"/>
                  <a:gd name="connsiteX11" fmla="*/ 18165 w 432842"/>
                  <a:gd name="connsiteY11" fmla="*/ 159996 h 548847"/>
                  <a:gd name="connsiteX12" fmla="*/ 207209 w 432842"/>
                  <a:gd name="connsiteY12" fmla="*/ 324043 h 548847"/>
                  <a:gd name="connsiteX13" fmla="*/ 211275 w 432842"/>
                  <a:gd name="connsiteY13" fmla="*/ 326068 h 548847"/>
                  <a:gd name="connsiteX14" fmla="*/ 314944 w 432842"/>
                  <a:gd name="connsiteY14" fmla="*/ 384801 h 548847"/>
                  <a:gd name="connsiteX15" fmla="*/ 314944 w 432842"/>
                  <a:gd name="connsiteY15" fmla="*/ 386826 h 548847"/>
                  <a:gd name="connsiteX16" fmla="*/ 225504 w 432842"/>
                  <a:gd name="connsiteY16" fmla="*/ 435432 h 548847"/>
                  <a:gd name="connsiteX17" fmla="*/ 91344 w 432842"/>
                  <a:gd name="connsiteY17" fmla="*/ 384801 h 548847"/>
                  <a:gd name="connsiteX18" fmla="*/ 54754 w 432842"/>
                  <a:gd name="connsiteY18" fmla="*/ 374674 h 548847"/>
                  <a:gd name="connsiteX19" fmla="*/ 22231 w 432842"/>
                  <a:gd name="connsiteY19" fmla="*/ 392902 h 548847"/>
                  <a:gd name="connsiteX20" fmla="*/ 10034 w 432842"/>
                  <a:gd name="connsiteY20" fmla="*/ 407079 h 548847"/>
                  <a:gd name="connsiteX21" fmla="*/ 18165 w 432842"/>
                  <a:gd name="connsiteY21" fmla="*/ 473913 h 548847"/>
                  <a:gd name="connsiteX22" fmla="*/ 225504 w 432842"/>
                  <a:gd name="connsiteY22" fmla="*/ 548848 h 548847"/>
                  <a:gd name="connsiteX23" fmla="*/ 432842 w 432842"/>
                  <a:gd name="connsiteY23" fmla="*/ 384801 h 548847"/>
                  <a:gd name="connsiteX24" fmla="*/ 432842 w 432842"/>
                  <a:gd name="connsiteY24" fmla="*/ 382776 h 548847"/>
                  <a:gd name="connsiteX25" fmla="*/ 239733 w 432842"/>
                  <a:gd name="connsiteY25" fmla="*/ 212653 h 548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32842" h="548847">
                    <a:moveTo>
                      <a:pt x="239733" y="212653"/>
                    </a:moveTo>
                    <a:cubicBezTo>
                      <a:pt x="176718" y="196451"/>
                      <a:pt x="136064" y="180249"/>
                      <a:pt x="136064" y="159996"/>
                    </a:cubicBezTo>
                    <a:lnTo>
                      <a:pt x="136064" y="157971"/>
                    </a:lnTo>
                    <a:cubicBezTo>
                      <a:pt x="136064" y="135693"/>
                      <a:pt x="168587" y="113415"/>
                      <a:pt x="219406" y="113415"/>
                    </a:cubicBezTo>
                    <a:cubicBezTo>
                      <a:pt x="255995" y="113415"/>
                      <a:pt x="298682" y="127592"/>
                      <a:pt x="333239" y="151895"/>
                    </a:cubicBezTo>
                    <a:cubicBezTo>
                      <a:pt x="343402" y="159996"/>
                      <a:pt x="357631" y="162021"/>
                      <a:pt x="369828" y="159996"/>
                    </a:cubicBezTo>
                    <a:cubicBezTo>
                      <a:pt x="382024" y="157971"/>
                      <a:pt x="394220" y="149870"/>
                      <a:pt x="402351" y="139743"/>
                    </a:cubicBezTo>
                    <a:lnTo>
                      <a:pt x="412515" y="123541"/>
                    </a:lnTo>
                    <a:cubicBezTo>
                      <a:pt x="426744" y="101263"/>
                      <a:pt x="420646" y="72910"/>
                      <a:pt x="400319" y="56708"/>
                    </a:cubicBezTo>
                    <a:cubicBezTo>
                      <a:pt x="347468" y="20253"/>
                      <a:pt x="282420" y="0"/>
                      <a:pt x="219406" y="0"/>
                    </a:cubicBezTo>
                    <a:cubicBezTo>
                      <a:pt x="103540" y="0"/>
                      <a:pt x="18165" y="66834"/>
                      <a:pt x="18165" y="157971"/>
                    </a:cubicBezTo>
                    <a:lnTo>
                      <a:pt x="18165" y="159996"/>
                    </a:lnTo>
                    <a:cubicBezTo>
                      <a:pt x="18165" y="269361"/>
                      <a:pt x="127933" y="299740"/>
                      <a:pt x="207209" y="324043"/>
                    </a:cubicBezTo>
                    <a:lnTo>
                      <a:pt x="211275" y="326068"/>
                    </a:lnTo>
                    <a:cubicBezTo>
                      <a:pt x="284453" y="346321"/>
                      <a:pt x="314944" y="358472"/>
                      <a:pt x="314944" y="384801"/>
                    </a:cubicBezTo>
                    <a:lnTo>
                      <a:pt x="314944" y="386826"/>
                    </a:lnTo>
                    <a:cubicBezTo>
                      <a:pt x="314944" y="413155"/>
                      <a:pt x="276322" y="435432"/>
                      <a:pt x="225504" y="435432"/>
                    </a:cubicBezTo>
                    <a:cubicBezTo>
                      <a:pt x="178751" y="435432"/>
                      <a:pt x="127933" y="417205"/>
                      <a:pt x="91344" y="384801"/>
                    </a:cubicBezTo>
                    <a:cubicBezTo>
                      <a:pt x="81180" y="376700"/>
                      <a:pt x="66951" y="372649"/>
                      <a:pt x="54754" y="374674"/>
                    </a:cubicBezTo>
                    <a:cubicBezTo>
                      <a:pt x="42558" y="376700"/>
                      <a:pt x="30362" y="382776"/>
                      <a:pt x="22231" y="392902"/>
                    </a:cubicBezTo>
                    <a:lnTo>
                      <a:pt x="10034" y="407079"/>
                    </a:lnTo>
                    <a:cubicBezTo>
                      <a:pt x="-6228" y="427331"/>
                      <a:pt x="-2162" y="457710"/>
                      <a:pt x="18165" y="473913"/>
                    </a:cubicBezTo>
                    <a:cubicBezTo>
                      <a:pt x="75082" y="520494"/>
                      <a:pt x="152325" y="548848"/>
                      <a:pt x="225504" y="548848"/>
                    </a:cubicBezTo>
                    <a:cubicBezTo>
                      <a:pt x="345435" y="548848"/>
                      <a:pt x="432842" y="479988"/>
                      <a:pt x="432842" y="384801"/>
                    </a:cubicBezTo>
                    <a:lnTo>
                      <a:pt x="432842" y="382776"/>
                    </a:lnTo>
                    <a:cubicBezTo>
                      <a:pt x="432842" y="265310"/>
                      <a:pt x="316977" y="234931"/>
                      <a:pt x="239733" y="212653"/>
                    </a:cubicBezTo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Graphic 28">
                <a:extLst>
                  <a:ext uri="{FF2B5EF4-FFF2-40B4-BE49-F238E27FC236}">
                    <a16:creationId xmlns:a16="http://schemas.microsoft.com/office/drawing/2014/main" id="{B840ECD6-CAFB-AF43-90A3-68643FE70931}"/>
                  </a:ext>
                </a:extLst>
              </p:cNvPr>
              <p:cNvSpPr/>
              <p:nvPr/>
            </p:nvSpPr>
            <p:spPr>
              <a:xfrm>
                <a:off x="3640105" y="1839285"/>
                <a:ext cx="716424" cy="542771"/>
              </a:xfrm>
              <a:custGeom>
                <a:avLst/>
                <a:gdLst>
                  <a:gd name="connsiteX0" fmla="*/ 708294 w 716424"/>
                  <a:gd name="connsiteY0" fmla="*/ 22278 h 542771"/>
                  <a:gd name="connsiteX1" fmla="*/ 669672 w 716424"/>
                  <a:gd name="connsiteY1" fmla="*/ 2025 h 542771"/>
                  <a:gd name="connsiteX2" fmla="*/ 651377 w 716424"/>
                  <a:gd name="connsiteY2" fmla="*/ 2025 h 542771"/>
                  <a:gd name="connsiteX3" fmla="*/ 604625 w 716424"/>
                  <a:gd name="connsiteY3" fmla="*/ 34430 h 542771"/>
                  <a:gd name="connsiteX4" fmla="*/ 507053 w 716424"/>
                  <a:gd name="connsiteY4" fmla="*/ 311891 h 542771"/>
                  <a:gd name="connsiteX5" fmla="*/ 411515 w 716424"/>
                  <a:gd name="connsiteY5" fmla="*/ 32404 h 542771"/>
                  <a:gd name="connsiteX6" fmla="*/ 364762 w 716424"/>
                  <a:gd name="connsiteY6" fmla="*/ 0 h 542771"/>
                  <a:gd name="connsiteX7" fmla="*/ 350533 w 716424"/>
                  <a:gd name="connsiteY7" fmla="*/ 0 h 542771"/>
                  <a:gd name="connsiteX8" fmla="*/ 303780 w 716424"/>
                  <a:gd name="connsiteY8" fmla="*/ 32404 h 542771"/>
                  <a:gd name="connsiteX9" fmla="*/ 208242 w 716424"/>
                  <a:gd name="connsiteY9" fmla="*/ 311891 h 542771"/>
                  <a:gd name="connsiteX10" fmla="*/ 112704 w 716424"/>
                  <a:gd name="connsiteY10" fmla="*/ 34430 h 542771"/>
                  <a:gd name="connsiteX11" fmla="*/ 65951 w 716424"/>
                  <a:gd name="connsiteY11" fmla="*/ 2025 h 542771"/>
                  <a:gd name="connsiteX12" fmla="*/ 47656 w 716424"/>
                  <a:gd name="connsiteY12" fmla="*/ 2025 h 542771"/>
                  <a:gd name="connsiteX13" fmla="*/ 9034 w 716424"/>
                  <a:gd name="connsiteY13" fmla="*/ 22278 h 542771"/>
                  <a:gd name="connsiteX14" fmla="*/ 2936 w 716424"/>
                  <a:gd name="connsiteY14" fmla="*/ 66834 h 542771"/>
                  <a:gd name="connsiteX15" fmla="*/ 155391 w 716424"/>
                  <a:gd name="connsiteY15" fmla="*/ 510367 h 542771"/>
                  <a:gd name="connsiteX16" fmla="*/ 202144 w 716424"/>
                  <a:gd name="connsiteY16" fmla="*/ 542772 h 542771"/>
                  <a:gd name="connsiteX17" fmla="*/ 216373 w 716424"/>
                  <a:gd name="connsiteY17" fmla="*/ 542772 h 542771"/>
                  <a:gd name="connsiteX18" fmla="*/ 263126 w 716424"/>
                  <a:gd name="connsiteY18" fmla="*/ 510367 h 542771"/>
                  <a:gd name="connsiteX19" fmla="*/ 358664 w 716424"/>
                  <a:gd name="connsiteY19" fmla="*/ 224805 h 542771"/>
                  <a:gd name="connsiteX20" fmla="*/ 454202 w 716424"/>
                  <a:gd name="connsiteY20" fmla="*/ 510367 h 542771"/>
                  <a:gd name="connsiteX21" fmla="*/ 500955 w 716424"/>
                  <a:gd name="connsiteY21" fmla="*/ 542772 h 542771"/>
                  <a:gd name="connsiteX22" fmla="*/ 515184 w 716424"/>
                  <a:gd name="connsiteY22" fmla="*/ 542772 h 542771"/>
                  <a:gd name="connsiteX23" fmla="*/ 561937 w 716424"/>
                  <a:gd name="connsiteY23" fmla="*/ 510367 h 542771"/>
                  <a:gd name="connsiteX24" fmla="*/ 714392 w 716424"/>
                  <a:gd name="connsiteY24" fmla="*/ 66834 h 542771"/>
                  <a:gd name="connsiteX25" fmla="*/ 708294 w 716424"/>
                  <a:gd name="connsiteY25" fmla="*/ 22278 h 54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716424" h="542771">
                    <a:moveTo>
                      <a:pt x="708294" y="22278"/>
                    </a:moveTo>
                    <a:cubicBezTo>
                      <a:pt x="700163" y="10126"/>
                      <a:pt x="683901" y="2025"/>
                      <a:pt x="669672" y="2025"/>
                    </a:cubicBezTo>
                    <a:lnTo>
                      <a:pt x="651377" y="2025"/>
                    </a:lnTo>
                    <a:cubicBezTo>
                      <a:pt x="631050" y="2025"/>
                      <a:pt x="612755" y="14177"/>
                      <a:pt x="604625" y="34430"/>
                    </a:cubicBezTo>
                    <a:lnTo>
                      <a:pt x="507053" y="311891"/>
                    </a:lnTo>
                    <a:lnTo>
                      <a:pt x="411515" y="32404"/>
                    </a:lnTo>
                    <a:cubicBezTo>
                      <a:pt x="405417" y="12152"/>
                      <a:pt x="387122" y="0"/>
                      <a:pt x="364762" y="0"/>
                    </a:cubicBezTo>
                    <a:lnTo>
                      <a:pt x="350533" y="0"/>
                    </a:lnTo>
                    <a:cubicBezTo>
                      <a:pt x="330206" y="0"/>
                      <a:pt x="311911" y="12152"/>
                      <a:pt x="303780" y="32404"/>
                    </a:cubicBezTo>
                    <a:lnTo>
                      <a:pt x="208242" y="311891"/>
                    </a:lnTo>
                    <a:lnTo>
                      <a:pt x="112704" y="34430"/>
                    </a:lnTo>
                    <a:cubicBezTo>
                      <a:pt x="106605" y="14177"/>
                      <a:pt x="88311" y="2025"/>
                      <a:pt x="65951" y="2025"/>
                    </a:cubicBezTo>
                    <a:lnTo>
                      <a:pt x="47656" y="2025"/>
                    </a:lnTo>
                    <a:cubicBezTo>
                      <a:pt x="31394" y="2025"/>
                      <a:pt x="17165" y="10126"/>
                      <a:pt x="9034" y="22278"/>
                    </a:cubicBezTo>
                    <a:cubicBezTo>
                      <a:pt x="903" y="34430"/>
                      <a:pt x="-3162" y="50632"/>
                      <a:pt x="2936" y="66834"/>
                    </a:cubicBezTo>
                    <a:lnTo>
                      <a:pt x="155391" y="510367"/>
                    </a:lnTo>
                    <a:cubicBezTo>
                      <a:pt x="161489" y="530620"/>
                      <a:pt x="179784" y="542772"/>
                      <a:pt x="202144" y="542772"/>
                    </a:cubicBezTo>
                    <a:lnTo>
                      <a:pt x="216373" y="542772"/>
                    </a:lnTo>
                    <a:cubicBezTo>
                      <a:pt x="236700" y="542772"/>
                      <a:pt x="254995" y="530620"/>
                      <a:pt x="263126" y="510367"/>
                    </a:cubicBezTo>
                    <a:lnTo>
                      <a:pt x="358664" y="224805"/>
                    </a:lnTo>
                    <a:lnTo>
                      <a:pt x="454202" y="510367"/>
                    </a:lnTo>
                    <a:cubicBezTo>
                      <a:pt x="460301" y="530620"/>
                      <a:pt x="478595" y="542772"/>
                      <a:pt x="500955" y="542772"/>
                    </a:cubicBezTo>
                    <a:lnTo>
                      <a:pt x="515184" y="542772"/>
                    </a:lnTo>
                    <a:cubicBezTo>
                      <a:pt x="535512" y="542772"/>
                      <a:pt x="553806" y="530620"/>
                      <a:pt x="561937" y="510367"/>
                    </a:cubicBezTo>
                    <a:lnTo>
                      <a:pt x="714392" y="66834"/>
                    </a:lnTo>
                    <a:cubicBezTo>
                      <a:pt x="718457" y="50632"/>
                      <a:pt x="716425" y="34430"/>
                      <a:pt x="708294" y="22278"/>
                    </a:cubicBezTo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Graphic 28">
                <a:extLst>
                  <a:ext uri="{FF2B5EF4-FFF2-40B4-BE49-F238E27FC236}">
                    <a16:creationId xmlns:a16="http://schemas.microsoft.com/office/drawing/2014/main" id="{3DD6982E-39E8-9D43-A3DA-B8A8A9D243CB}"/>
                  </a:ext>
                </a:extLst>
              </p:cNvPr>
              <p:cNvSpPr/>
              <p:nvPr/>
            </p:nvSpPr>
            <p:spPr>
              <a:xfrm>
                <a:off x="5419648" y="1831184"/>
                <a:ext cx="534608" cy="739222"/>
              </a:xfrm>
              <a:custGeom>
                <a:avLst/>
                <a:gdLst>
                  <a:gd name="connsiteX0" fmla="*/ 268321 w 534608"/>
                  <a:gd name="connsiteY0" fmla="*/ 0 h 739222"/>
                  <a:gd name="connsiteX1" fmla="*/ 113833 w 534608"/>
                  <a:gd name="connsiteY1" fmla="*/ 48606 h 739222"/>
                  <a:gd name="connsiteX2" fmla="*/ 67080 w 534608"/>
                  <a:gd name="connsiteY2" fmla="*/ 10126 h 739222"/>
                  <a:gd name="connsiteX3" fmla="*/ 48786 w 534608"/>
                  <a:gd name="connsiteY3" fmla="*/ 10126 h 739222"/>
                  <a:gd name="connsiteX4" fmla="*/ 0 w 534608"/>
                  <a:gd name="connsiteY4" fmla="*/ 58733 h 739222"/>
                  <a:gd name="connsiteX5" fmla="*/ 0 w 534608"/>
                  <a:gd name="connsiteY5" fmla="*/ 690616 h 739222"/>
                  <a:gd name="connsiteX6" fmla="*/ 48786 w 534608"/>
                  <a:gd name="connsiteY6" fmla="*/ 739223 h 739222"/>
                  <a:gd name="connsiteX7" fmla="*/ 67080 w 534608"/>
                  <a:gd name="connsiteY7" fmla="*/ 739223 h 739222"/>
                  <a:gd name="connsiteX8" fmla="*/ 115866 w 534608"/>
                  <a:gd name="connsiteY8" fmla="*/ 690616 h 739222"/>
                  <a:gd name="connsiteX9" fmla="*/ 115866 w 534608"/>
                  <a:gd name="connsiteY9" fmla="*/ 504292 h 739222"/>
                  <a:gd name="connsiteX10" fmla="*/ 268321 w 534608"/>
                  <a:gd name="connsiteY10" fmla="*/ 550873 h 739222"/>
                  <a:gd name="connsiteX11" fmla="*/ 534608 w 534608"/>
                  <a:gd name="connsiteY11" fmla="*/ 275436 h 739222"/>
                  <a:gd name="connsiteX12" fmla="*/ 534608 w 534608"/>
                  <a:gd name="connsiteY12" fmla="*/ 273411 h 739222"/>
                  <a:gd name="connsiteX13" fmla="*/ 268321 w 534608"/>
                  <a:gd name="connsiteY13" fmla="*/ 0 h 739222"/>
                  <a:gd name="connsiteX14" fmla="*/ 266288 w 534608"/>
                  <a:gd name="connsiteY14" fmla="*/ 115440 h 739222"/>
                  <a:gd name="connsiteX15" fmla="*/ 418743 w 534608"/>
                  <a:gd name="connsiteY15" fmla="*/ 277462 h 739222"/>
                  <a:gd name="connsiteX16" fmla="*/ 418743 w 534608"/>
                  <a:gd name="connsiteY16" fmla="*/ 279487 h 739222"/>
                  <a:gd name="connsiteX17" fmla="*/ 266288 w 534608"/>
                  <a:gd name="connsiteY17" fmla="*/ 439483 h 739222"/>
                  <a:gd name="connsiteX18" fmla="*/ 113833 w 534608"/>
                  <a:gd name="connsiteY18" fmla="*/ 277462 h 739222"/>
                  <a:gd name="connsiteX19" fmla="*/ 113833 w 534608"/>
                  <a:gd name="connsiteY19" fmla="*/ 275436 h 739222"/>
                  <a:gd name="connsiteX20" fmla="*/ 266288 w 534608"/>
                  <a:gd name="connsiteY20" fmla="*/ 115440 h 739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34608" h="739222">
                    <a:moveTo>
                      <a:pt x="268321" y="0"/>
                    </a:moveTo>
                    <a:cubicBezTo>
                      <a:pt x="209371" y="0"/>
                      <a:pt x="156520" y="18227"/>
                      <a:pt x="113833" y="48606"/>
                    </a:cubicBezTo>
                    <a:cubicBezTo>
                      <a:pt x="109768" y="26328"/>
                      <a:pt x="89440" y="10126"/>
                      <a:pt x="67080" y="10126"/>
                    </a:cubicBezTo>
                    <a:lnTo>
                      <a:pt x="48786" y="10126"/>
                    </a:lnTo>
                    <a:cubicBezTo>
                      <a:pt x="22360" y="10126"/>
                      <a:pt x="0" y="32404"/>
                      <a:pt x="0" y="58733"/>
                    </a:cubicBezTo>
                    <a:lnTo>
                      <a:pt x="0" y="690616"/>
                    </a:lnTo>
                    <a:cubicBezTo>
                      <a:pt x="0" y="716945"/>
                      <a:pt x="22360" y="739223"/>
                      <a:pt x="48786" y="739223"/>
                    </a:cubicBezTo>
                    <a:lnTo>
                      <a:pt x="67080" y="739223"/>
                    </a:lnTo>
                    <a:cubicBezTo>
                      <a:pt x="93506" y="739223"/>
                      <a:pt x="115866" y="716945"/>
                      <a:pt x="115866" y="690616"/>
                    </a:cubicBezTo>
                    <a:lnTo>
                      <a:pt x="115866" y="504292"/>
                    </a:lnTo>
                    <a:cubicBezTo>
                      <a:pt x="158553" y="534671"/>
                      <a:pt x="211404" y="550873"/>
                      <a:pt x="268321" y="550873"/>
                    </a:cubicBezTo>
                    <a:cubicBezTo>
                      <a:pt x="418743" y="550873"/>
                      <a:pt x="534608" y="429357"/>
                      <a:pt x="534608" y="275436"/>
                    </a:cubicBezTo>
                    <a:lnTo>
                      <a:pt x="534608" y="273411"/>
                    </a:lnTo>
                    <a:cubicBezTo>
                      <a:pt x="534608" y="121516"/>
                      <a:pt x="416710" y="0"/>
                      <a:pt x="268321" y="0"/>
                    </a:cubicBezTo>
                    <a:moveTo>
                      <a:pt x="266288" y="115440"/>
                    </a:moveTo>
                    <a:cubicBezTo>
                      <a:pt x="353695" y="115440"/>
                      <a:pt x="418743" y="184299"/>
                      <a:pt x="418743" y="277462"/>
                    </a:cubicBezTo>
                    <a:lnTo>
                      <a:pt x="418743" y="279487"/>
                    </a:lnTo>
                    <a:cubicBezTo>
                      <a:pt x="418743" y="374674"/>
                      <a:pt x="355728" y="439483"/>
                      <a:pt x="266288" y="439483"/>
                    </a:cubicBezTo>
                    <a:cubicBezTo>
                      <a:pt x="180913" y="439483"/>
                      <a:pt x="113833" y="368599"/>
                      <a:pt x="113833" y="277462"/>
                    </a:cubicBezTo>
                    <a:lnTo>
                      <a:pt x="113833" y="275436"/>
                    </a:lnTo>
                    <a:cubicBezTo>
                      <a:pt x="113833" y="184299"/>
                      <a:pt x="178880" y="115440"/>
                      <a:pt x="266288" y="115440"/>
                    </a:cubicBezTo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Graphic 28">
                <a:extLst>
                  <a:ext uri="{FF2B5EF4-FFF2-40B4-BE49-F238E27FC236}">
                    <a16:creationId xmlns:a16="http://schemas.microsoft.com/office/drawing/2014/main" id="{58AA0202-758A-A34E-9AEC-18DAFFA8C9B3}"/>
                  </a:ext>
                </a:extLst>
              </p:cNvPr>
              <p:cNvSpPr/>
              <p:nvPr/>
            </p:nvSpPr>
            <p:spPr>
              <a:xfrm>
                <a:off x="4372792" y="1835234"/>
                <a:ext cx="977743" cy="544796"/>
              </a:xfrm>
              <a:custGeom>
                <a:avLst/>
                <a:gdLst>
                  <a:gd name="connsiteX0" fmla="*/ 701292 w 977743"/>
                  <a:gd name="connsiteY0" fmla="*/ 0 h 544796"/>
                  <a:gd name="connsiteX1" fmla="*/ 516314 w 977743"/>
                  <a:gd name="connsiteY1" fmla="*/ 68859 h 544796"/>
                  <a:gd name="connsiteX2" fmla="*/ 428906 w 977743"/>
                  <a:gd name="connsiteY2" fmla="*/ 263285 h 544796"/>
                  <a:gd name="connsiteX3" fmla="*/ 272386 w 977743"/>
                  <a:gd name="connsiteY3" fmla="*/ 425306 h 544796"/>
                  <a:gd name="connsiteX4" fmla="*/ 117898 w 977743"/>
                  <a:gd name="connsiteY4" fmla="*/ 271386 h 544796"/>
                  <a:gd name="connsiteX5" fmla="*/ 162618 w 977743"/>
                  <a:gd name="connsiteY5" fmla="*/ 162021 h 544796"/>
                  <a:gd name="connsiteX6" fmla="*/ 272386 w 977743"/>
                  <a:gd name="connsiteY6" fmla="*/ 117466 h 544796"/>
                  <a:gd name="connsiteX7" fmla="*/ 272386 w 977743"/>
                  <a:gd name="connsiteY7" fmla="*/ 113415 h 544796"/>
                  <a:gd name="connsiteX8" fmla="*/ 272386 w 977743"/>
                  <a:gd name="connsiteY8" fmla="*/ 117466 h 544796"/>
                  <a:gd name="connsiteX9" fmla="*/ 333368 w 977743"/>
                  <a:gd name="connsiteY9" fmla="*/ 129617 h 544796"/>
                  <a:gd name="connsiteX10" fmla="*/ 339466 w 977743"/>
                  <a:gd name="connsiteY10" fmla="*/ 133668 h 544796"/>
                  <a:gd name="connsiteX11" fmla="*/ 355728 w 977743"/>
                  <a:gd name="connsiteY11" fmla="*/ 139743 h 544796"/>
                  <a:gd name="connsiteX12" fmla="*/ 418743 w 977743"/>
                  <a:gd name="connsiteY12" fmla="*/ 117466 h 544796"/>
                  <a:gd name="connsiteX13" fmla="*/ 420775 w 977743"/>
                  <a:gd name="connsiteY13" fmla="*/ 48606 h 544796"/>
                  <a:gd name="connsiteX14" fmla="*/ 384186 w 977743"/>
                  <a:gd name="connsiteY14" fmla="*/ 22278 h 544796"/>
                  <a:gd name="connsiteX15" fmla="*/ 272386 w 977743"/>
                  <a:gd name="connsiteY15" fmla="*/ 0 h 544796"/>
                  <a:gd name="connsiteX16" fmla="*/ 79276 w 977743"/>
                  <a:gd name="connsiteY16" fmla="*/ 81011 h 544796"/>
                  <a:gd name="connsiteX17" fmla="*/ 0 w 977743"/>
                  <a:gd name="connsiteY17" fmla="*/ 273411 h 544796"/>
                  <a:gd name="connsiteX18" fmla="*/ 272386 w 977743"/>
                  <a:gd name="connsiteY18" fmla="*/ 544797 h 544796"/>
                  <a:gd name="connsiteX19" fmla="*/ 459397 w 977743"/>
                  <a:gd name="connsiteY19" fmla="*/ 469862 h 544796"/>
                  <a:gd name="connsiteX20" fmla="*/ 546805 w 977743"/>
                  <a:gd name="connsiteY20" fmla="*/ 281512 h 544796"/>
                  <a:gd name="connsiteX21" fmla="*/ 546805 w 977743"/>
                  <a:gd name="connsiteY21" fmla="*/ 281512 h 544796"/>
                  <a:gd name="connsiteX22" fmla="*/ 597623 w 977743"/>
                  <a:gd name="connsiteY22" fmla="*/ 157971 h 544796"/>
                  <a:gd name="connsiteX23" fmla="*/ 703325 w 977743"/>
                  <a:gd name="connsiteY23" fmla="*/ 119491 h 544796"/>
                  <a:gd name="connsiteX24" fmla="*/ 857813 w 977743"/>
                  <a:gd name="connsiteY24" fmla="*/ 273411 h 544796"/>
                  <a:gd name="connsiteX25" fmla="*/ 703325 w 977743"/>
                  <a:gd name="connsiteY25" fmla="*/ 427331 h 544796"/>
                  <a:gd name="connsiteX26" fmla="*/ 640310 w 977743"/>
                  <a:gd name="connsiteY26" fmla="*/ 413155 h 544796"/>
                  <a:gd name="connsiteX27" fmla="*/ 640310 w 977743"/>
                  <a:gd name="connsiteY27" fmla="*/ 413155 h 544796"/>
                  <a:gd name="connsiteX28" fmla="*/ 603721 w 977743"/>
                  <a:gd name="connsiteY28" fmla="*/ 405054 h 544796"/>
                  <a:gd name="connsiteX29" fmla="*/ 563067 w 977743"/>
                  <a:gd name="connsiteY29" fmla="*/ 427331 h 544796"/>
                  <a:gd name="connsiteX30" fmla="*/ 550870 w 977743"/>
                  <a:gd name="connsiteY30" fmla="*/ 475938 h 544796"/>
                  <a:gd name="connsiteX31" fmla="*/ 597623 w 977743"/>
                  <a:gd name="connsiteY31" fmla="*/ 526570 h 544796"/>
                  <a:gd name="connsiteX32" fmla="*/ 701292 w 977743"/>
                  <a:gd name="connsiteY32" fmla="*/ 544797 h 544796"/>
                  <a:gd name="connsiteX33" fmla="*/ 703325 w 977743"/>
                  <a:gd name="connsiteY33" fmla="*/ 544797 h 544796"/>
                  <a:gd name="connsiteX34" fmla="*/ 900500 w 977743"/>
                  <a:gd name="connsiteY34" fmla="*/ 463786 h 544796"/>
                  <a:gd name="connsiteX35" fmla="*/ 977744 w 977743"/>
                  <a:gd name="connsiteY35" fmla="*/ 271386 h 544796"/>
                  <a:gd name="connsiteX36" fmla="*/ 701292 w 977743"/>
                  <a:gd name="connsiteY36" fmla="*/ 0 h 544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977743" h="544796">
                    <a:moveTo>
                      <a:pt x="701292" y="0"/>
                    </a:moveTo>
                    <a:cubicBezTo>
                      <a:pt x="626081" y="0"/>
                      <a:pt x="563067" y="24303"/>
                      <a:pt x="516314" y="68859"/>
                    </a:cubicBezTo>
                    <a:cubicBezTo>
                      <a:pt x="469561" y="113415"/>
                      <a:pt x="441103" y="180249"/>
                      <a:pt x="428906" y="263285"/>
                    </a:cubicBezTo>
                    <a:cubicBezTo>
                      <a:pt x="416710" y="338220"/>
                      <a:pt x="382153" y="425306"/>
                      <a:pt x="272386" y="425306"/>
                    </a:cubicBezTo>
                    <a:cubicBezTo>
                      <a:pt x="187011" y="425306"/>
                      <a:pt x="117898" y="356447"/>
                      <a:pt x="117898" y="271386"/>
                    </a:cubicBezTo>
                    <a:cubicBezTo>
                      <a:pt x="117898" y="230880"/>
                      <a:pt x="134160" y="190375"/>
                      <a:pt x="162618" y="162021"/>
                    </a:cubicBezTo>
                    <a:cubicBezTo>
                      <a:pt x="191077" y="133668"/>
                      <a:pt x="229699" y="117466"/>
                      <a:pt x="272386" y="117466"/>
                    </a:cubicBezTo>
                    <a:lnTo>
                      <a:pt x="272386" y="113415"/>
                    </a:lnTo>
                    <a:lnTo>
                      <a:pt x="272386" y="117466"/>
                    </a:lnTo>
                    <a:cubicBezTo>
                      <a:pt x="298811" y="117466"/>
                      <a:pt x="321171" y="123541"/>
                      <a:pt x="333368" y="129617"/>
                    </a:cubicBezTo>
                    <a:cubicBezTo>
                      <a:pt x="335401" y="131642"/>
                      <a:pt x="337433" y="131642"/>
                      <a:pt x="339466" y="133668"/>
                    </a:cubicBezTo>
                    <a:cubicBezTo>
                      <a:pt x="343531" y="135693"/>
                      <a:pt x="349630" y="137718"/>
                      <a:pt x="355728" y="139743"/>
                    </a:cubicBezTo>
                    <a:cubicBezTo>
                      <a:pt x="380121" y="145819"/>
                      <a:pt x="402481" y="137718"/>
                      <a:pt x="418743" y="117466"/>
                    </a:cubicBezTo>
                    <a:cubicBezTo>
                      <a:pt x="435004" y="95188"/>
                      <a:pt x="435004" y="68859"/>
                      <a:pt x="420775" y="48606"/>
                    </a:cubicBezTo>
                    <a:cubicBezTo>
                      <a:pt x="412644" y="36455"/>
                      <a:pt x="402481" y="30379"/>
                      <a:pt x="384186" y="22278"/>
                    </a:cubicBezTo>
                    <a:cubicBezTo>
                      <a:pt x="351662" y="8101"/>
                      <a:pt x="319139" y="0"/>
                      <a:pt x="272386" y="0"/>
                    </a:cubicBezTo>
                    <a:cubicBezTo>
                      <a:pt x="199208" y="0"/>
                      <a:pt x="130095" y="28354"/>
                      <a:pt x="79276" y="81011"/>
                    </a:cubicBezTo>
                    <a:cubicBezTo>
                      <a:pt x="28458" y="131642"/>
                      <a:pt x="0" y="200501"/>
                      <a:pt x="0" y="273411"/>
                    </a:cubicBezTo>
                    <a:cubicBezTo>
                      <a:pt x="0" y="423281"/>
                      <a:pt x="121964" y="544797"/>
                      <a:pt x="272386" y="544797"/>
                    </a:cubicBezTo>
                    <a:cubicBezTo>
                      <a:pt x="345564" y="544797"/>
                      <a:pt x="410612" y="518468"/>
                      <a:pt x="459397" y="469862"/>
                    </a:cubicBezTo>
                    <a:cubicBezTo>
                      <a:pt x="504117" y="423281"/>
                      <a:pt x="534608" y="360498"/>
                      <a:pt x="546805" y="281512"/>
                    </a:cubicBezTo>
                    <a:lnTo>
                      <a:pt x="546805" y="281512"/>
                    </a:lnTo>
                    <a:cubicBezTo>
                      <a:pt x="554936" y="226830"/>
                      <a:pt x="571197" y="184299"/>
                      <a:pt x="597623" y="157971"/>
                    </a:cubicBezTo>
                    <a:cubicBezTo>
                      <a:pt x="622016" y="131642"/>
                      <a:pt x="656572" y="119491"/>
                      <a:pt x="703325" y="119491"/>
                    </a:cubicBezTo>
                    <a:cubicBezTo>
                      <a:pt x="788700" y="119491"/>
                      <a:pt x="857813" y="188350"/>
                      <a:pt x="857813" y="273411"/>
                    </a:cubicBezTo>
                    <a:cubicBezTo>
                      <a:pt x="857813" y="358472"/>
                      <a:pt x="788700" y="427331"/>
                      <a:pt x="703325" y="427331"/>
                    </a:cubicBezTo>
                    <a:cubicBezTo>
                      <a:pt x="674867" y="427331"/>
                      <a:pt x="660638" y="421256"/>
                      <a:pt x="640310" y="413155"/>
                    </a:cubicBezTo>
                    <a:lnTo>
                      <a:pt x="640310" y="413155"/>
                    </a:lnTo>
                    <a:cubicBezTo>
                      <a:pt x="628114" y="409104"/>
                      <a:pt x="617950" y="403028"/>
                      <a:pt x="603721" y="405054"/>
                    </a:cubicBezTo>
                    <a:cubicBezTo>
                      <a:pt x="587459" y="407079"/>
                      <a:pt x="573230" y="415180"/>
                      <a:pt x="563067" y="427331"/>
                    </a:cubicBezTo>
                    <a:cubicBezTo>
                      <a:pt x="550870" y="441508"/>
                      <a:pt x="546805" y="457710"/>
                      <a:pt x="550870" y="475938"/>
                    </a:cubicBezTo>
                    <a:cubicBezTo>
                      <a:pt x="554936" y="500241"/>
                      <a:pt x="571197" y="512393"/>
                      <a:pt x="597623" y="526570"/>
                    </a:cubicBezTo>
                    <a:cubicBezTo>
                      <a:pt x="617950" y="536696"/>
                      <a:pt x="644376" y="544797"/>
                      <a:pt x="701292" y="544797"/>
                    </a:cubicBezTo>
                    <a:lnTo>
                      <a:pt x="703325" y="544797"/>
                    </a:lnTo>
                    <a:cubicBezTo>
                      <a:pt x="780569" y="544797"/>
                      <a:pt x="849682" y="516443"/>
                      <a:pt x="900500" y="463786"/>
                    </a:cubicBezTo>
                    <a:cubicBezTo>
                      <a:pt x="951318" y="413155"/>
                      <a:pt x="977744" y="344295"/>
                      <a:pt x="977744" y="271386"/>
                    </a:cubicBezTo>
                    <a:cubicBezTo>
                      <a:pt x="973678" y="123541"/>
                      <a:pt x="851714" y="0"/>
                      <a:pt x="7012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6" name="Graphic 28">
              <a:extLst>
                <a:ext uri="{FF2B5EF4-FFF2-40B4-BE49-F238E27FC236}">
                  <a16:creationId xmlns:a16="http://schemas.microsoft.com/office/drawing/2014/main" id="{76C3467F-523C-A841-B272-11B3E211049C}"/>
                </a:ext>
              </a:extLst>
            </p:cNvPr>
            <p:cNvGrpSpPr/>
            <p:nvPr/>
          </p:nvGrpSpPr>
          <p:grpSpPr>
            <a:xfrm>
              <a:off x="3781267" y="1630682"/>
              <a:ext cx="1567235" cy="87086"/>
              <a:chOff x="3781267" y="1630682"/>
              <a:chExt cx="1567235" cy="87086"/>
            </a:xfrm>
            <a:solidFill>
              <a:schemeClr val="accent2"/>
            </a:solidFill>
          </p:grpSpPr>
          <p:sp>
            <p:nvSpPr>
              <p:cNvPr id="7" name="Graphic 28">
                <a:extLst>
                  <a:ext uri="{FF2B5EF4-FFF2-40B4-BE49-F238E27FC236}">
                    <a16:creationId xmlns:a16="http://schemas.microsoft.com/office/drawing/2014/main" id="{793E539D-C419-124E-AA07-C4545A22C79C}"/>
                  </a:ext>
                </a:extLst>
              </p:cNvPr>
              <p:cNvSpPr/>
              <p:nvPr/>
            </p:nvSpPr>
            <p:spPr>
              <a:xfrm>
                <a:off x="3781267" y="1634733"/>
                <a:ext cx="63014" cy="78985"/>
              </a:xfrm>
              <a:custGeom>
                <a:avLst/>
                <a:gdLst>
                  <a:gd name="connsiteX0" fmla="*/ 34556 w 63014"/>
                  <a:gd name="connsiteY0" fmla="*/ 0 h 78985"/>
                  <a:gd name="connsiteX1" fmla="*/ 63015 w 63014"/>
                  <a:gd name="connsiteY1" fmla="*/ 24303 h 78985"/>
                  <a:gd name="connsiteX2" fmla="*/ 34556 w 63014"/>
                  <a:gd name="connsiteY2" fmla="*/ 48606 h 78985"/>
                  <a:gd name="connsiteX3" fmla="*/ 12196 w 63014"/>
                  <a:gd name="connsiteY3" fmla="*/ 48606 h 78985"/>
                  <a:gd name="connsiteX4" fmla="*/ 12196 w 63014"/>
                  <a:gd name="connsiteY4" fmla="*/ 78985 h 78985"/>
                  <a:gd name="connsiteX5" fmla="*/ 0 w 63014"/>
                  <a:gd name="connsiteY5" fmla="*/ 78985 h 78985"/>
                  <a:gd name="connsiteX6" fmla="*/ 0 w 63014"/>
                  <a:gd name="connsiteY6" fmla="*/ 0 h 78985"/>
                  <a:gd name="connsiteX7" fmla="*/ 34556 w 63014"/>
                  <a:gd name="connsiteY7" fmla="*/ 0 h 78985"/>
                  <a:gd name="connsiteX8" fmla="*/ 34556 w 63014"/>
                  <a:gd name="connsiteY8" fmla="*/ 40505 h 78985"/>
                  <a:gd name="connsiteX9" fmla="*/ 50818 w 63014"/>
                  <a:gd name="connsiteY9" fmla="*/ 26328 h 78985"/>
                  <a:gd name="connsiteX10" fmla="*/ 34556 w 63014"/>
                  <a:gd name="connsiteY10" fmla="*/ 12152 h 78985"/>
                  <a:gd name="connsiteX11" fmla="*/ 12196 w 63014"/>
                  <a:gd name="connsiteY11" fmla="*/ 12152 h 78985"/>
                  <a:gd name="connsiteX12" fmla="*/ 12196 w 63014"/>
                  <a:gd name="connsiteY12" fmla="*/ 40505 h 78985"/>
                  <a:gd name="connsiteX13" fmla="*/ 34556 w 63014"/>
                  <a:gd name="connsiteY13" fmla="*/ 40505 h 7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014" h="78985">
                    <a:moveTo>
                      <a:pt x="34556" y="0"/>
                    </a:moveTo>
                    <a:cubicBezTo>
                      <a:pt x="52851" y="0"/>
                      <a:pt x="63015" y="10126"/>
                      <a:pt x="63015" y="24303"/>
                    </a:cubicBezTo>
                    <a:cubicBezTo>
                      <a:pt x="63015" y="40505"/>
                      <a:pt x="52851" y="48606"/>
                      <a:pt x="34556" y="48606"/>
                    </a:cubicBezTo>
                    <a:lnTo>
                      <a:pt x="12196" y="48606"/>
                    </a:lnTo>
                    <a:lnTo>
                      <a:pt x="12196" y="78985"/>
                    </a:lnTo>
                    <a:lnTo>
                      <a:pt x="0" y="78985"/>
                    </a:lnTo>
                    <a:lnTo>
                      <a:pt x="0" y="0"/>
                    </a:lnTo>
                    <a:lnTo>
                      <a:pt x="34556" y="0"/>
                    </a:lnTo>
                    <a:close/>
                    <a:moveTo>
                      <a:pt x="34556" y="40505"/>
                    </a:moveTo>
                    <a:cubicBezTo>
                      <a:pt x="44720" y="40505"/>
                      <a:pt x="50818" y="34430"/>
                      <a:pt x="50818" y="26328"/>
                    </a:cubicBezTo>
                    <a:cubicBezTo>
                      <a:pt x="50818" y="16202"/>
                      <a:pt x="44720" y="12152"/>
                      <a:pt x="34556" y="12152"/>
                    </a:cubicBezTo>
                    <a:lnTo>
                      <a:pt x="12196" y="12152"/>
                    </a:lnTo>
                    <a:lnTo>
                      <a:pt x="12196" y="40505"/>
                    </a:lnTo>
                    <a:lnTo>
                      <a:pt x="34556" y="40505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Graphic 28">
                <a:extLst>
                  <a:ext uri="{FF2B5EF4-FFF2-40B4-BE49-F238E27FC236}">
                    <a16:creationId xmlns:a16="http://schemas.microsoft.com/office/drawing/2014/main" id="{05538546-CA40-CD4F-82C5-F35ABC38BD98}"/>
                  </a:ext>
                </a:extLst>
              </p:cNvPr>
              <p:cNvSpPr/>
              <p:nvPr/>
            </p:nvSpPr>
            <p:spPr>
              <a:xfrm>
                <a:off x="3842249" y="1636758"/>
                <a:ext cx="77243" cy="78985"/>
              </a:xfrm>
              <a:custGeom>
                <a:avLst/>
                <a:gdLst>
                  <a:gd name="connsiteX0" fmla="*/ 65047 w 77243"/>
                  <a:gd name="connsiteY0" fmla="*/ 78985 h 78985"/>
                  <a:gd name="connsiteX1" fmla="*/ 56917 w 77243"/>
                  <a:gd name="connsiteY1" fmla="*/ 58733 h 78985"/>
                  <a:gd name="connsiteX2" fmla="*/ 20327 w 77243"/>
                  <a:gd name="connsiteY2" fmla="*/ 58733 h 78985"/>
                  <a:gd name="connsiteX3" fmla="*/ 12196 w 77243"/>
                  <a:gd name="connsiteY3" fmla="*/ 78985 h 78985"/>
                  <a:gd name="connsiteX4" fmla="*/ 0 w 77243"/>
                  <a:gd name="connsiteY4" fmla="*/ 78985 h 78985"/>
                  <a:gd name="connsiteX5" fmla="*/ 30491 w 77243"/>
                  <a:gd name="connsiteY5" fmla="*/ 0 h 78985"/>
                  <a:gd name="connsiteX6" fmla="*/ 44720 w 77243"/>
                  <a:gd name="connsiteY6" fmla="*/ 0 h 78985"/>
                  <a:gd name="connsiteX7" fmla="*/ 77244 w 77243"/>
                  <a:gd name="connsiteY7" fmla="*/ 78985 h 78985"/>
                  <a:gd name="connsiteX8" fmla="*/ 65047 w 77243"/>
                  <a:gd name="connsiteY8" fmla="*/ 78985 h 78985"/>
                  <a:gd name="connsiteX9" fmla="*/ 26426 w 77243"/>
                  <a:gd name="connsiteY9" fmla="*/ 48606 h 78985"/>
                  <a:gd name="connsiteX10" fmla="*/ 54884 w 77243"/>
                  <a:gd name="connsiteY10" fmla="*/ 48606 h 78985"/>
                  <a:gd name="connsiteX11" fmla="*/ 52851 w 77243"/>
                  <a:gd name="connsiteY11" fmla="*/ 44556 h 78985"/>
                  <a:gd name="connsiteX12" fmla="*/ 40655 w 77243"/>
                  <a:gd name="connsiteY12" fmla="*/ 12152 h 78985"/>
                  <a:gd name="connsiteX13" fmla="*/ 28458 w 77243"/>
                  <a:gd name="connsiteY13" fmla="*/ 44556 h 78985"/>
                  <a:gd name="connsiteX14" fmla="*/ 26426 w 77243"/>
                  <a:gd name="connsiteY14" fmla="*/ 48606 h 7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243" h="78985">
                    <a:moveTo>
                      <a:pt x="65047" y="78985"/>
                    </a:moveTo>
                    <a:lnTo>
                      <a:pt x="56917" y="58733"/>
                    </a:lnTo>
                    <a:lnTo>
                      <a:pt x="20327" y="58733"/>
                    </a:lnTo>
                    <a:lnTo>
                      <a:pt x="12196" y="78985"/>
                    </a:lnTo>
                    <a:lnTo>
                      <a:pt x="0" y="78985"/>
                    </a:lnTo>
                    <a:lnTo>
                      <a:pt x="30491" y="0"/>
                    </a:lnTo>
                    <a:lnTo>
                      <a:pt x="44720" y="0"/>
                    </a:lnTo>
                    <a:lnTo>
                      <a:pt x="77244" y="78985"/>
                    </a:lnTo>
                    <a:lnTo>
                      <a:pt x="65047" y="78985"/>
                    </a:lnTo>
                    <a:close/>
                    <a:moveTo>
                      <a:pt x="26426" y="48606"/>
                    </a:moveTo>
                    <a:lnTo>
                      <a:pt x="54884" y="48606"/>
                    </a:lnTo>
                    <a:lnTo>
                      <a:pt x="52851" y="44556"/>
                    </a:lnTo>
                    <a:cubicBezTo>
                      <a:pt x="48786" y="34430"/>
                      <a:pt x="44720" y="22278"/>
                      <a:pt x="40655" y="12152"/>
                    </a:cubicBezTo>
                    <a:cubicBezTo>
                      <a:pt x="38622" y="20253"/>
                      <a:pt x="34556" y="30379"/>
                      <a:pt x="28458" y="44556"/>
                    </a:cubicBezTo>
                    <a:lnTo>
                      <a:pt x="26426" y="48606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Graphic 28">
                <a:extLst>
                  <a:ext uri="{FF2B5EF4-FFF2-40B4-BE49-F238E27FC236}">
                    <a16:creationId xmlns:a16="http://schemas.microsoft.com/office/drawing/2014/main" id="{6955B8D4-68EF-EB44-8ABC-532B7F11E8C8}"/>
                  </a:ext>
                </a:extLst>
              </p:cNvPr>
              <p:cNvSpPr/>
              <p:nvPr/>
            </p:nvSpPr>
            <p:spPr>
              <a:xfrm>
                <a:off x="3935755" y="1634733"/>
                <a:ext cx="63014" cy="81010"/>
              </a:xfrm>
              <a:custGeom>
                <a:avLst/>
                <a:gdLst>
                  <a:gd name="connsiteX0" fmla="*/ 60982 w 63014"/>
                  <a:gd name="connsiteY0" fmla="*/ 70884 h 81010"/>
                  <a:gd name="connsiteX1" fmla="*/ 63015 w 63014"/>
                  <a:gd name="connsiteY1" fmla="*/ 81011 h 81010"/>
                  <a:gd name="connsiteX2" fmla="*/ 50818 w 63014"/>
                  <a:gd name="connsiteY2" fmla="*/ 81011 h 81010"/>
                  <a:gd name="connsiteX3" fmla="*/ 48785 w 63014"/>
                  <a:gd name="connsiteY3" fmla="*/ 70884 h 81010"/>
                  <a:gd name="connsiteX4" fmla="*/ 48785 w 63014"/>
                  <a:gd name="connsiteY4" fmla="*/ 62783 h 81010"/>
                  <a:gd name="connsiteX5" fmla="*/ 34556 w 63014"/>
                  <a:gd name="connsiteY5" fmla="*/ 48606 h 81010"/>
                  <a:gd name="connsiteX6" fmla="*/ 12196 w 63014"/>
                  <a:gd name="connsiteY6" fmla="*/ 48606 h 81010"/>
                  <a:gd name="connsiteX7" fmla="*/ 12196 w 63014"/>
                  <a:gd name="connsiteY7" fmla="*/ 81011 h 81010"/>
                  <a:gd name="connsiteX8" fmla="*/ 0 w 63014"/>
                  <a:gd name="connsiteY8" fmla="*/ 81011 h 81010"/>
                  <a:gd name="connsiteX9" fmla="*/ 0 w 63014"/>
                  <a:gd name="connsiteY9" fmla="*/ 0 h 81010"/>
                  <a:gd name="connsiteX10" fmla="*/ 34556 w 63014"/>
                  <a:gd name="connsiteY10" fmla="*/ 0 h 81010"/>
                  <a:gd name="connsiteX11" fmla="*/ 63015 w 63014"/>
                  <a:gd name="connsiteY11" fmla="*/ 22278 h 81010"/>
                  <a:gd name="connsiteX12" fmla="*/ 48785 w 63014"/>
                  <a:gd name="connsiteY12" fmla="*/ 42531 h 81010"/>
                  <a:gd name="connsiteX13" fmla="*/ 60982 w 63014"/>
                  <a:gd name="connsiteY13" fmla="*/ 58733 h 81010"/>
                  <a:gd name="connsiteX14" fmla="*/ 60982 w 63014"/>
                  <a:gd name="connsiteY14" fmla="*/ 70884 h 81010"/>
                  <a:gd name="connsiteX15" fmla="*/ 34556 w 63014"/>
                  <a:gd name="connsiteY15" fmla="*/ 38480 h 81010"/>
                  <a:gd name="connsiteX16" fmla="*/ 48785 w 63014"/>
                  <a:gd name="connsiteY16" fmla="*/ 24303 h 81010"/>
                  <a:gd name="connsiteX17" fmla="*/ 32524 w 63014"/>
                  <a:gd name="connsiteY17" fmla="*/ 12152 h 81010"/>
                  <a:gd name="connsiteX18" fmla="*/ 10164 w 63014"/>
                  <a:gd name="connsiteY18" fmla="*/ 12152 h 81010"/>
                  <a:gd name="connsiteX19" fmla="*/ 10164 w 63014"/>
                  <a:gd name="connsiteY19" fmla="*/ 38480 h 81010"/>
                  <a:gd name="connsiteX20" fmla="*/ 34556 w 63014"/>
                  <a:gd name="connsiteY20" fmla="*/ 38480 h 8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014" h="81010">
                    <a:moveTo>
                      <a:pt x="60982" y="70884"/>
                    </a:moveTo>
                    <a:cubicBezTo>
                      <a:pt x="60982" y="74935"/>
                      <a:pt x="63015" y="78985"/>
                      <a:pt x="63015" y="81011"/>
                    </a:cubicBezTo>
                    <a:lnTo>
                      <a:pt x="50818" y="81011"/>
                    </a:lnTo>
                    <a:cubicBezTo>
                      <a:pt x="48785" y="78985"/>
                      <a:pt x="48785" y="74935"/>
                      <a:pt x="48785" y="70884"/>
                    </a:cubicBezTo>
                    <a:lnTo>
                      <a:pt x="48785" y="62783"/>
                    </a:lnTo>
                    <a:cubicBezTo>
                      <a:pt x="48785" y="52657"/>
                      <a:pt x="44720" y="48606"/>
                      <a:pt x="34556" y="48606"/>
                    </a:cubicBezTo>
                    <a:lnTo>
                      <a:pt x="12196" y="48606"/>
                    </a:lnTo>
                    <a:lnTo>
                      <a:pt x="12196" y="81011"/>
                    </a:lnTo>
                    <a:lnTo>
                      <a:pt x="0" y="81011"/>
                    </a:lnTo>
                    <a:lnTo>
                      <a:pt x="0" y="0"/>
                    </a:lnTo>
                    <a:lnTo>
                      <a:pt x="34556" y="0"/>
                    </a:lnTo>
                    <a:cubicBezTo>
                      <a:pt x="50818" y="0"/>
                      <a:pt x="63015" y="8101"/>
                      <a:pt x="63015" y="22278"/>
                    </a:cubicBezTo>
                    <a:cubicBezTo>
                      <a:pt x="63015" y="32404"/>
                      <a:pt x="58949" y="38480"/>
                      <a:pt x="48785" y="42531"/>
                    </a:cubicBezTo>
                    <a:cubicBezTo>
                      <a:pt x="56916" y="44556"/>
                      <a:pt x="60982" y="50632"/>
                      <a:pt x="60982" y="58733"/>
                    </a:cubicBezTo>
                    <a:lnTo>
                      <a:pt x="60982" y="70884"/>
                    </a:lnTo>
                    <a:close/>
                    <a:moveTo>
                      <a:pt x="34556" y="38480"/>
                    </a:moveTo>
                    <a:cubicBezTo>
                      <a:pt x="42687" y="38480"/>
                      <a:pt x="48785" y="34430"/>
                      <a:pt x="48785" y="24303"/>
                    </a:cubicBezTo>
                    <a:cubicBezTo>
                      <a:pt x="48785" y="16202"/>
                      <a:pt x="42687" y="12152"/>
                      <a:pt x="32524" y="12152"/>
                    </a:cubicBezTo>
                    <a:lnTo>
                      <a:pt x="10164" y="12152"/>
                    </a:lnTo>
                    <a:lnTo>
                      <a:pt x="10164" y="38480"/>
                    </a:lnTo>
                    <a:lnTo>
                      <a:pt x="34556" y="38480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Graphic 28">
                <a:extLst>
                  <a:ext uri="{FF2B5EF4-FFF2-40B4-BE49-F238E27FC236}">
                    <a16:creationId xmlns:a16="http://schemas.microsoft.com/office/drawing/2014/main" id="{DD55AE53-ED64-D54B-8870-FB43679E081C}"/>
                  </a:ext>
                </a:extLst>
              </p:cNvPr>
              <p:cNvSpPr/>
              <p:nvPr/>
            </p:nvSpPr>
            <p:spPr>
              <a:xfrm>
                <a:off x="4008933" y="1634733"/>
                <a:ext cx="65047" cy="78985"/>
              </a:xfrm>
              <a:custGeom>
                <a:avLst/>
                <a:gdLst>
                  <a:gd name="connsiteX0" fmla="*/ 65047 w 65047"/>
                  <a:gd name="connsiteY0" fmla="*/ 0 h 78985"/>
                  <a:gd name="connsiteX1" fmla="*/ 65047 w 65047"/>
                  <a:gd name="connsiteY1" fmla="*/ 10126 h 78985"/>
                  <a:gd name="connsiteX2" fmla="*/ 38622 w 65047"/>
                  <a:gd name="connsiteY2" fmla="*/ 10126 h 78985"/>
                  <a:gd name="connsiteX3" fmla="*/ 38622 w 65047"/>
                  <a:gd name="connsiteY3" fmla="*/ 78985 h 78985"/>
                  <a:gd name="connsiteX4" fmla="*/ 26425 w 65047"/>
                  <a:gd name="connsiteY4" fmla="*/ 78985 h 78985"/>
                  <a:gd name="connsiteX5" fmla="*/ 26425 w 65047"/>
                  <a:gd name="connsiteY5" fmla="*/ 12152 h 78985"/>
                  <a:gd name="connsiteX6" fmla="*/ 0 w 65047"/>
                  <a:gd name="connsiteY6" fmla="*/ 12152 h 78985"/>
                  <a:gd name="connsiteX7" fmla="*/ 0 w 65047"/>
                  <a:gd name="connsiteY7" fmla="*/ 0 h 78985"/>
                  <a:gd name="connsiteX8" fmla="*/ 65047 w 65047"/>
                  <a:gd name="connsiteY8" fmla="*/ 0 h 7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5047" h="78985">
                    <a:moveTo>
                      <a:pt x="65047" y="0"/>
                    </a:moveTo>
                    <a:lnTo>
                      <a:pt x="65047" y="10126"/>
                    </a:lnTo>
                    <a:lnTo>
                      <a:pt x="38622" y="10126"/>
                    </a:lnTo>
                    <a:lnTo>
                      <a:pt x="38622" y="78985"/>
                    </a:lnTo>
                    <a:lnTo>
                      <a:pt x="26425" y="78985"/>
                    </a:lnTo>
                    <a:lnTo>
                      <a:pt x="26425" y="12152"/>
                    </a:lnTo>
                    <a:lnTo>
                      <a:pt x="0" y="12152"/>
                    </a:lnTo>
                    <a:lnTo>
                      <a:pt x="0" y="0"/>
                    </a:lnTo>
                    <a:lnTo>
                      <a:pt x="65047" y="0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Graphic 28">
                <a:extLst>
                  <a:ext uri="{FF2B5EF4-FFF2-40B4-BE49-F238E27FC236}">
                    <a16:creationId xmlns:a16="http://schemas.microsoft.com/office/drawing/2014/main" id="{17628E86-E6C3-B243-8BCE-7C146C252843}"/>
                  </a:ext>
                </a:extLst>
              </p:cNvPr>
              <p:cNvSpPr/>
              <p:nvPr/>
            </p:nvSpPr>
            <p:spPr>
              <a:xfrm>
                <a:off x="4118701" y="1632708"/>
                <a:ext cx="77243" cy="85061"/>
              </a:xfrm>
              <a:custGeom>
                <a:avLst/>
                <a:gdLst>
                  <a:gd name="connsiteX0" fmla="*/ 0 w 77243"/>
                  <a:gd name="connsiteY0" fmla="*/ 42531 h 85061"/>
                  <a:gd name="connsiteX1" fmla="*/ 38622 w 77243"/>
                  <a:gd name="connsiteY1" fmla="*/ 0 h 85061"/>
                  <a:gd name="connsiteX2" fmla="*/ 77244 w 77243"/>
                  <a:gd name="connsiteY2" fmla="*/ 42531 h 85061"/>
                  <a:gd name="connsiteX3" fmla="*/ 38622 w 77243"/>
                  <a:gd name="connsiteY3" fmla="*/ 85061 h 85061"/>
                  <a:gd name="connsiteX4" fmla="*/ 0 w 77243"/>
                  <a:gd name="connsiteY4" fmla="*/ 42531 h 85061"/>
                  <a:gd name="connsiteX5" fmla="*/ 67080 w 77243"/>
                  <a:gd name="connsiteY5" fmla="*/ 42531 h 85061"/>
                  <a:gd name="connsiteX6" fmla="*/ 38622 w 77243"/>
                  <a:gd name="connsiteY6" fmla="*/ 12152 h 85061"/>
                  <a:gd name="connsiteX7" fmla="*/ 12196 w 77243"/>
                  <a:gd name="connsiteY7" fmla="*/ 42531 h 85061"/>
                  <a:gd name="connsiteX8" fmla="*/ 38622 w 77243"/>
                  <a:gd name="connsiteY8" fmla="*/ 72910 h 85061"/>
                  <a:gd name="connsiteX9" fmla="*/ 67080 w 77243"/>
                  <a:gd name="connsiteY9" fmla="*/ 42531 h 85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7243" h="85061">
                    <a:moveTo>
                      <a:pt x="0" y="42531"/>
                    </a:moveTo>
                    <a:cubicBezTo>
                      <a:pt x="0" y="18227"/>
                      <a:pt x="14229" y="0"/>
                      <a:pt x="38622" y="0"/>
                    </a:cubicBezTo>
                    <a:cubicBezTo>
                      <a:pt x="63015" y="0"/>
                      <a:pt x="77244" y="18227"/>
                      <a:pt x="77244" y="42531"/>
                    </a:cubicBezTo>
                    <a:cubicBezTo>
                      <a:pt x="77244" y="66834"/>
                      <a:pt x="63015" y="85061"/>
                      <a:pt x="38622" y="85061"/>
                    </a:cubicBezTo>
                    <a:cubicBezTo>
                      <a:pt x="14229" y="85061"/>
                      <a:pt x="0" y="66834"/>
                      <a:pt x="0" y="42531"/>
                    </a:cubicBezTo>
                    <a:close/>
                    <a:moveTo>
                      <a:pt x="67080" y="42531"/>
                    </a:moveTo>
                    <a:cubicBezTo>
                      <a:pt x="67080" y="26328"/>
                      <a:pt x="56916" y="12152"/>
                      <a:pt x="38622" y="12152"/>
                    </a:cubicBezTo>
                    <a:cubicBezTo>
                      <a:pt x="20327" y="12152"/>
                      <a:pt x="12196" y="26328"/>
                      <a:pt x="12196" y="42531"/>
                    </a:cubicBezTo>
                    <a:cubicBezTo>
                      <a:pt x="12196" y="58733"/>
                      <a:pt x="20327" y="72910"/>
                      <a:pt x="38622" y="72910"/>
                    </a:cubicBezTo>
                    <a:cubicBezTo>
                      <a:pt x="56916" y="74935"/>
                      <a:pt x="67080" y="58733"/>
                      <a:pt x="67080" y="42531"/>
                    </a:cubicBez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Graphic 28">
                <a:extLst>
                  <a:ext uri="{FF2B5EF4-FFF2-40B4-BE49-F238E27FC236}">
                    <a16:creationId xmlns:a16="http://schemas.microsoft.com/office/drawing/2014/main" id="{5CCDF08C-FC07-684A-8265-235EA28A76A6}"/>
                  </a:ext>
                </a:extLst>
              </p:cNvPr>
              <p:cNvSpPr/>
              <p:nvPr/>
            </p:nvSpPr>
            <p:spPr>
              <a:xfrm>
                <a:off x="4216272" y="1634733"/>
                <a:ext cx="54883" cy="81010"/>
              </a:xfrm>
              <a:custGeom>
                <a:avLst/>
                <a:gdLst>
                  <a:gd name="connsiteX0" fmla="*/ 54884 w 54883"/>
                  <a:gd name="connsiteY0" fmla="*/ 12152 h 81010"/>
                  <a:gd name="connsiteX1" fmla="*/ 12196 w 54883"/>
                  <a:gd name="connsiteY1" fmla="*/ 12152 h 81010"/>
                  <a:gd name="connsiteX2" fmla="*/ 12196 w 54883"/>
                  <a:gd name="connsiteY2" fmla="*/ 34430 h 81010"/>
                  <a:gd name="connsiteX3" fmla="*/ 50818 w 54883"/>
                  <a:gd name="connsiteY3" fmla="*/ 34430 h 81010"/>
                  <a:gd name="connsiteX4" fmla="*/ 50818 w 54883"/>
                  <a:gd name="connsiteY4" fmla="*/ 44556 h 81010"/>
                  <a:gd name="connsiteX5" fmla="*/ 12196 w 54883"/>
                  <a:gd name="connsiteY5" fmla="*/ 44556 h 81010"/>
                  <a:gd name="connsiteX6" fmla="*/ 12196 w 54883"/>
                  <a:gd name="connsiteY6" fmla="*/ 81011 h 81010"/>
                  <a:gd name="connsiteX7" fmla="*/ 0 w 54883"/>
                  <a:gd name="connsiteY7" fmla="*/ 81011 h 81010"/>
                  <a:gd name="connsiteX8" fmla="*/ 0 w 54883"/>
                  <a:gd name="connsiteY8" fmla="*/ 0 h 81010"/>
                  <a:gd name="connsiteX9" fmla="*/ 54884 w 54883"/>
                  <a:gd name="connsiteY9" fmla="*/ 0 h 81010"/>
                  <a:gd name="connsiteX10" fmla="*/ 54884 w 54883"/>
                  <a:gd name="connsiteY10" fmla="*/ 12152 h 8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883" h="81010">
                    <a:moveTo>
                      <a:pt x="54884" y="12152"/>
                    </a:moveTo>
                    <a:lnTo>
                      <a:pt x="12196" y="12152"/>
                    </a:lnTo>
                    <a:lnTo>
                      <a:pt x="12196" y="34430"/>
                    </a:lnTo>
                    <a:lnTo>
                      <a:pt x="50818" y="34430"/>
                    </a:lnTo>
                    <a:lnTo>
                      <a:pt x="50818" y="44556"/>
                    </a:lnTo>
                    <a:lnTo>
                      <a:pt x="12196" y="44556"/>
                    </a:lnTo>
                    <a:lnTo>
                      <a:pt x="12196" y="81011"/>
                    </a:lnTo>
                    <a:lnTo>
                      <a:pt x="0" y="81011"/>
                    </a:lnTo>
                    <a:lnTo>
                      <a:pt x="0" y="0"/>
                    </a:lnTo>
                    <a:lnTo>
                      <a:pt x="54884" y="0"/>
                    </a:lnTo>
                    <a:lnTo>
                      <a:pt x="54884" y="12152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Graphic 28">
                <a:extLst>
                  <a:ext uri="{FF2B5EF4-FFF2-40B4-BE49-F238E27FC236}">
                    <a16:creationId xmlns:a16="http://schemas.microsoft.com/office/drawing/2014/main" id="{55320C9A-A180-A04B-BC24-D0184E4121C9}"/>
                  </a:ext>
                </a:extLst>
              </p:cNvPr>
              <p:cNvSpPr/>
              <p:nvPr/>
            </p:nvSpPr>
            <p:spPr>
              <a:xfrm>
                <a:off x="4319941" y="1634733"/>
                <a:ext cx="63014" cy="81010"/>
              </a:xfrm>
              <a:custGeom>
                <a:avLst/>
                <a:gdLst>
                  <a:gd name="connsiteX0" fmla="*/ 60982 w 63014"/>
                  <a:gd name="connsiteY0" fmla="*/ 70884 h 81010"/>
                  <a:gd name="connsiteX1" fmla="*/ 63015 w 63014"/>
                  <a:gd name="connsiteY1" fmla="*/ 81011 h 81010"/>
                  <a:gd name="connsiteX2" fmla="*/ 50818 w 63014"/>
                  <a:gd name="connsiteY2" fmla="*/ 81011 h 81010"/>
                  <a:gd name="connsiteX3" fmla="*/ 48786 w 63014"/>
                  <a:gd name="connsiteY3" fmla="*/ 70884 h 81010"/>
                  <a:gd name="connsiteX4" fmla="*/ 48786 w 63014"/>
                  <a:gd name="connsiteY4" fmla="*/ 62783 h 81010"/>
                  <a:gd name="connsiteX5" fmla="*/ 34556 w 63014"/>
                  <a:gd name="connsiteY5" fmla="*/ 48606 h 81010"/>
                  <a:gd name="connsiteX6" fmla="*/ 12196 w 63014"/>
                  <a:gd name="connsiteY6" fmla="*/ 48606 h 81010"/>
                  <a:gd name="connsiteX7" fmla="*/ 12196 w 63014"/>
                  <a:gd name="connsiteY7" fmla="*/ 81011 h 81010"/>
                  <a:gd name="connsiteX8" fmla="*/ 0 w 63014"/>
                  <a:gd name="connsiteY8" fmla="*/ 81011 h 81010"/>
                  <a:gd name="connsiteX9" fmla="*/ 0 w 63014"/>
                  <a:gd name="connsiteY9" fmla="*/ 0 h 81010"/>
                  <a:gd name="connsiteX10" fmla="*/ 34556 w 63014"/>
                  <a:gd name="connsiteY10" fmla="*/ 0 h 81010"/>
                  <a:gd name="connsiteX11" fmla="*/ 63015 w 63014"/>
                  <a:gd name="connsiteY11" fmla="*/ 22278 h 81010"/>
                  <a:gd name="connsiteX12" fmla="*/ 48786 w 63014"/>
                  <a:gd name="connsiteY12" fmla="*/ 42531 h 81010"/>
                  <a:gd name="connsiteX13" fmla="*/ 60982 w 63014"/>
                  <a:gd name="connsiteY13" fmla="*/ 58733 h 81010"/>
                  <a:gd name="connsiteX14" fmla="*/ 60982 w 63014"/>
                  <a:gd name="connsiteY14" fmla="*/ 70884 h 81010"/>
                  <a:gd name="connsiteX15" fmla="*/ 34556 w 63014"/>
                  <a:gd name="connsiteY15" fmla="*/ 38480 h 81010"/>
                  <a:gd name="connsiteX16" fmla="*/ 48786 w 63014"/>
                  <a:gd name="connsiteY16" fmla="*/ 24303 h 81010"/>
                  <a:gd name="connsiteX17" fmla="*/ 32524 w 63014"/>
                  <a:gd name="connsiteY17" fmla="*/ 12152 h 81010"/>
                  <a:gd name="connsiteX18" fmla="*/ 10164 w 63014"/>
                  <a:gd name="connsiteY18" fmla="*/ 12152 h 81010"/>
                  <a:gd name="connsiteX19" fmla="*/ 10164 w 63014"/>
                  <a:gd name="connsiteY19" fmla="*/ 38480 h 81010"/>
                  <a:gd name="connsiteX20" fmla="*/ 34556 w 63014"/>
                  <a:gd name="connsiteY20" fmla="*/ 38480 h 8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014" h="81010">
                    <a:moveTo>
                      <a:pt x="60982" y="70884"/>
                    </a:moveTo>
                    <a:cubicBezTo>
                      <a:pt x="60982" y="74935"/>
                      <a:pt x="63015" y="78985"/>
                      <a:pt x="63015" y="81011"/>
                    </a:cubicBezTo>
                    <a:lnTo>
                      <a:pt x="50818" y="81011"/>
                    </a:lnTo>
                    <a:cubicBezTo>
                      <a:pt x="48786" y="78985"/>
                      <a:pt x="48786" y="74935"/>
                      <a:pt x="48786" y="70884"/>
                    </a:cubicBezTo>
                    <a:lnTo>
                      <a:pt x="48786" y="62783"/>
                    </a:lnTo>
                    <a:cubicBezTo>
                      <a:pt x="48786" y="52657"/>
                      <a:pt x="44720" y="48606"/>
                      <a:pt x="34556" y="48606"/>
                    </a:cubicBezTo>
                    <a:lnTo>
                      <a:pt x="12196" y="48606"/>
                    </a:lnTo>
                    <a:lnTo>
                      <a:pt x="12196" y="81011"/>
                    </a:lnTo>
                    <a:lnTo>
                      <a:pt x="0" y="81011"/>
                    </a:lnTo>
                    <a:lnTo>
                      <a:pt x="0" y="0"/>
                    </a:lnTo>
                    <a:lnTo>
                      <a:pt x="34556" y="0"/>
                    </a:lnTo>
                    <a:cubicBezTo>
                      <a:pt x="50818" y="0"/>
                      <a:pt x="63015" y="8101"/>
                      <a:pt x="63015" y="22278"/>
                    </a:cubicBezTo>
                    <a:cubicBezTo>
                      <a:pt x="63015" y="32404"/>
                      <a:pt x="58949" y="38480"/>
                      <a:pt x="48786" y="42531"/>
                    </a:cubicBezTo>
                    <a:cubicBezTo>
                      <a:pt x="56917" y="44556"/>
                      <a:pt x="58949" y="50632"/>
                      <a:pt x="60982" y="58733"/>
                    </a:cubicBezTo>
                    <a:lnTo>
                      <a:pt x="60982" y="70884"/>
                    </a:lnTo>
                    <a:close/>
                    <a:moveTo>
                      <a:pt x="34556" y="38480"/>
                    </a:moveTo>
                    <a:cubicBezTo>
                      <a:pt x="42687" y="38480"/>
                      <a:pt x="48786" y="34430"/>
                      <a:pt x="48786" y="24303"/>
                    </a:cubicBezTo>
                    <a:cubicBezTo>
                      <a:pt x="48786" y="16202"/>
                      <a:pt x="42687" y="12152"/>
                      <a:pt x="32524" y="12152"/>
                    </a:cubicBezTo>
                    <a:lnTo>
                      <a:pt x="10164" y="12152"/>
                    </a:lnTo>
                    <a:lnTo>
                      <a:pt x="10164" y="38480"/>
                    </a:lnTo>
                    <a:lnTo>
                      <a:pt x="34556" y="38480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Graphic 28">
                <a:extLst>
                  <a:ext uri="{FF2B5EF4-FFF2-40B4-BE49-F238E27FC236}">
                    <a16:creationId xmlns:a16="http://schemas.microsoft.com/office/drawing/2014/main" id="{3D74DA32-5A2A-D44C-9D44-9F7B7D9B2A75}"/>
                  </a:ext>
                </a:extLst>
              </p:cNvPr>
              <p:cNvSpPr/>
              <p:nvPr/>
            </p:nvSpPr>
            <p:spPr>
              <a:xfrm>
                <a:off x="4403283" y="1634733"/>
                <a:ext cx="56916" cy="81010"/>
              </a:xfrm>
              <a:custGeom>
                <a:avLst/>
                <a:gdLst>
                  <a:gd name="connsiteX0" fmla="*/ 56916 w 56916"/>
                  <a:gd name="connsiteY0" fmla="*/ 12152 h 81010"/>
                  <a:gd name="connsiteX1" fmla="*/ 12196 w 56916"/>
                  <a:gd name="connsiteY1" fmla="*/ 12152 h 81010"/>
                  <a:gd name="connsiteX2" fmla="*/ 12196 w 56916"/>
                  <a:gd name="connsiteY2" fmla="*/ 34430 h 81010"/>
                  <a:gd name="connsiteX3" fmla="*/ 52851 w 56916"/>
                  <a:gd name="connsiteY3" fmla="*/ 34430 h 81010"/>
                  <a:gd name="connsiteX4" fmla="*/ 52851 w 56916"/>
                  <a:gd name="connsiteY4" fmla="*/ 44556 h 81010"/>
                  <a:gd name="connsiteX5" fmla="*/ 12196 w 56916"/>
                  <a:gd name="connsiteY5" fmla="*/ 44556 h 81010"/>
                  <a:gd name="connsiteX6" fmla="*/ 12196 w 56916"/>
                  <a:gd name="connsiteY6" fmla="*/ 70884 h 81010"/>
                  <a:gd name="connsiteX7" fmla="*/ 56916 w 56916"/>
                  <a:gd name="connsiteY7" fmla="*/ 70884 h 81010"/>
                  <a:gd name="connsiteX8" fmla="*/ 56916 w 56916"/>
                  <a:gd name="connsiteY8" fmla="*/ 81011 h 81010"/>
                  <a:gd name="connsiteX9" fmla="*/ 0 w 56916"/>
                  <a:gd name="connsiteY9" fmla="*/ 81011 h 81010"/>
                  <a:gd name="connsiteX10" fmla="*/ 0 w 56916"/>
                  <a:gd name="connsiteY10" fmla="*/ 0 h 81010"/>
                  <a:gd name="connsiteX11" fmla="*/ 56916 w 56916"/>
                  <a:gd name="connsiteY11" fmla="*/ 0 h 81010"/>
                  <a:gd name="connsiteX12" fmla="*/ 56916 w 56916"/>
                  <a:gd name="connsiteY12" fmla="*/ 12152 h 8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916" h="81010">
                    <a:moveTo>
                      <a:pt x="56916" y="12152"/>
                    </a:moveTo>
                    <a:lnTo>
                      <a:pt x="12196" y="12152"/>
                    </a:lnTo>
                    <a:lnTo>
                      <a:pt x="12196" y="34430"/>
                    </a:lnTo>
                    <a:lnTo>
                      <a:pt x="52851" y="34430"/>
                    </a:lnTo>
                    <a:lnTo>
                      <a:pt x="52851" y="44556"/>
                    </a:lnTo>
                    <a:lnTo>
                      <a:pt x="12196" y="44556"/>
                    </a:lnTo>
                    <a:lnTo>
                      <a:pt x="12196" y="70884"/>
                    </a:lnTo>
                    <a:lnTo>
                      <a:pt x="56916" y="70884"/>
                    </a:lnTo>
                    <a:lnTo>
                      <a:pt x="56916" y="81011"/>
                    </a:lnTo>
                    <a:lnTo>
                      <a:pt x="0" y="81011"/>
                    </a:lnTo>
                    <a:lnTo>
                      <a:pt x="0" y="0"/>
                    </a:lnTo>
                    <a:lnTo>
                      <a:pt x="56916" y="0"/>
                    </a:lnTo>
                    <a:lnTo>
                      <a:pt x="56916" y="12152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Graphic 28">
                <a:extLst>
                  <a:ext uri="{FF2B5EF4-FFF2-40B4-BE49-F238E27FC236}">
                    <a16:creationId xmlns:a16="http://schemas.microsoft.com/office/drawing/2014/main" id="{CB7563A8-A929-0545-8490-4569AA6C740C}"/>
                  </a:ext>
                </a:extLst>
              </p:cNvPr>
              <p:cNvSpPr/>
              <p:nvPr/>
            </p:nvSpPr>
            <p:spPr>
              <a:xfrm>
                <a:off x="4470363" y="1634733"/>
                <a:ext cx="77243" cy="81010"/>
              </a:xfrm>
              <a:custGeom>
                <a:avLst/>
                <a:gdLst>
                  <a:gd name="connsiteX0" fmla="*/ 65047 w 77243"/>
                  <a:gd name="connsiteY0" fmla="*/ 81011 h 81010"/>
                  <a:gd name="connsiteX1" fmla="*/ 56917 w 77243"/>
                  <a:gd name="connsiteY1" fmla="*/ 60758 h 81010"/>
                  <a:gd name="connsiteX2" fmla="*/ 20327 w 77243"/>
                  <a:gd name="connsiteY2" fmla="*/ 60758 h 81010"/>
                  <a:gd name="connsiteX3" fmla="*/ 12196 w 77243"/>
                  <a:gd name="connsiteY3" fmla="*/ 81011 h 81010"/>
                  <a:gd name="connsiteX4" fmla="*/ 0 w 77243"/>
                  <a:gd name="connsiteY4" fmla="*/ 81011 h 81010"/>
                  <a:gd name="connsiteX5" fmla="*/ 30491 w 77243"/>
                  <a:gd name="connsiteY5" fmla="*/ 0 h 81010"/>
                  <a:gd name="connsiteX6" fmla="*/ 44720 w 77243"/>
                  <a:gd name="connsiteY6" fmla="*/ 0 h 81010"/>
                  <a:gd name="connsiteX7" fmla="*/ 77244 w 77243"/>
                  <a:gd name="connsiteY7" fmla="*/ 78985 h 81010"/>
                  <a:gd name="connsiteX8" fmla="*/ 65047 w 77243"/>
                  <a:gd name="connsiteY8" fmla="*/ 78985 h 81010"/>
                  <a:gd name="connsiteX9" fmla="*/ 24393 w 77243"/>
                  <a:gd name="connsiteY9" fmla="*/ 50632 h 81010"/>
                  <a:gd name="connsiteX10" fmla="*/ 52851 w 77243"/>
                  <a:gd name="connsiteY10" fmla="*/ 50632 h 81010"/>
                  <a:gd name="connsiteX11" fmla="*/ 50818 w 77243"/>
                  <a:gd name="connsiteY11" fmla="*/ 44556 h 81010"/>
                  <a:gd name="connsiteX12" fmla="*/ 38622 w 77243"/>
                  <a:gd name="connsiteY12" fmla="*/ 12152 h 81010"/>
                  <a:gd name="connsiteX13" fmla="*/ 26426 w 77243"/>
                  <a:gd name="connsiteY13" fmla="*/ 44556 h 81010"/>
                  <a:gd name="connsiteX14" fmla="*/ 24393 w 77243"/>
                  <a:gd name="connsiteY14" fmla="*/ 50632 h 8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7243" h="81010">
                    <a:moveTo>
                      <a:pt x="65047" y="81011"/>
                    </a:moveTo>
                    <a:lnTo>
                      <a:pt x="56917" y="60758"/>
                    </a:lnTo>
                    <a:lnTo>
                      <a:pt x="20327" y="60758"/>
                    </a:lnTo>
                    <a:lnTo>
                      <a:pt x="12196" y="81011"/>
                    </a:lnTo>
                    <a:lnTo>
                      <a:pt x="0" y="81011"/>
                    </a:lnTo>
                    <a:lnTo>
                      <a:pt x="30491" y="0"/>
                    </a:lnTo>
                    <a:lnTo>
                      <a:pt x="44720" y="0"/>
                    </a:lnTo>
                    <a:lnTo>
                      <a:pt x="77244" y="78985"/>
                    </a:lnTo>
                    <a:lnTo>
                      <a:pt x="65047" y="78985"/>
                    </a:lnTo>
                    <a:close/>
                    <a:moveTo>
                      <a:pt x="24393" y="50632"/>
                    </a:moveTo>
                    <a:lnTo>
                      <a:pt x="52851" y="50632"/>
                    </a:lnTo>
                    <a:lnTo>
                      <a:pt x="50818" y="44556"/>
                    </a:lnTo>
                    <a:cubicBezTo>
                      <a:pt x="46753" y="34430"/>
                      <a:pt x="42687" y="22278"/>
                      <a:pt x="38622" y="12152"/>
                    </a:cubicBezTo>
                    <a:cubicBezTo>
                      <a:pt x="34556" y="20253"/>
                      <a:pt x="30491" y="30379"/>
                      <a:pt x="26426" y="44556"/>
                    </a:cubicBezTo>
                    <a:lnTo>
                      <a:pt x="24393" y="50632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Graphic 28">
                <a:extLst>
                  <a:ext uri="{FF2B5EF4-FFF2-40B4-BE49-F238E27FC236}">
                    <a16:creationId xmlns:a16="http://schemas.microsoft.com/office/drawing/2014/main" id="{8AF358AC-26BC-C74B-B9F1-83191C0F6FAC}"/>
                  </a:ext>
                </a:extLst>
              </p:cNvPr>
              <p:cNvSpPr/>
              <p:nvPr/>
            </p:nvSpPr>
            <p:spPr>
              <a:xfrm>
                <a:off x="4561836" y="1634733"/>
                <a:ext cx="50818" cy="81010"/>
              </a:xfrm>
              <a:custGeom>
                <a:avLst/>
                <a:gdLst>
                  <a:gd name="connsiteX0" fmla="*/ 12196 w 50818"/>
                  <a:gd name="connsiteY0" fmla="*/ 70884 h 81010"/>
                  <a:gd name="connsiteX1" fmla="*/ 50818 w 50818"/>
                  <a:gd name="connsiteY1" fmla="*/ 70884 h 81010"/>
                  <a:gd name="connsiteX2" fmla="*/ 50818 w 50818"/>
                  <a:gd name="connsiteY2" fmla="*/ 81011 h 81010"/>
                  <a:gd name="connsiteX3" fmla="*/ 0 w 50818"/>
                  <a:gd name="connsiteY3" fmla="*/ 81011 h 81010"/>
                  <a:gd name="connsiteX4" fmla="*/ 0 w 50818"/>
                  <a:gd name="connsiteY4" fmla="*/ 0 h 81010"/>
                  <a:gd name="connsiteX5" fmla="*/ 12196 w 50818"/>
                  <a:gd name="connsiteY5" fmla="*/ 0 h 81010"/>
                  <a:gd name="connsiteX6" fmla="*/ 12196 w 50818"/>
                  <a:gd name="connsiteY6" fmla="*/ 70884 h 8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818" h="81010">
                    <a:moveTo>
                      <a:pt x="12196" y="70884"/>
                    </a:moveTo>
                    <a:lnTo>
                      <a:pt x="50818" y="70884"/>
                    </a:lnTo>
                    <a:lnTo>
                      <a:pt x="50818" y="81011"/>
                    </a:lnTo>
                    <a:lnTo>
                      <a:pt x="0" y="81011"/>
                    </a:lnTo>
                    <a:lnTo>
                      <a:pt x="0" y="0"/>
                    </a:lnTo>
                    <a:lnTo>
                      <a:pt x="12196" y="0"/>
                    </a:lnTo>
                    <a:lnTo>
                      <a:pt x="12196" y="70884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Graphic 28">
                <a:extLst>
                  <a:ext uri="{FF2B5EF4-FFF2-40B4-BE49-F238E27FC236}">
                    <a16:creationId xmlns:a16="http://schemas.microsoft.com/office/drawing/2014/main" id="{5B0B1408-2EC8-8241-BA76-69AFD632C876}"/>
                  </a:ext>
                </a:extLst>
              </p:cNvPr>
              <p:cNvSpPr/>
              <p:nvPr/>
            </p:nvSpPr>
            <p:spPr>
              <a:xfrm>
                <a:off x="4659407" y="1632708"/>
                <a:ext cx="73178" cy="83189"/>
              </a:xfrm>
              <a:custGeom>
                <a:avLst/>
                <a:gdLst>
                  <a:gd name="connsiteX0" fmla="*/ 0 w 73178"/>
                  <a:gd name="connsiteY0" fmla="*/ 42531 h 83189"/>
                  <a:gd name="connsiteX1" fmla="*/ 38622 w 73178"/>
                  <a:gd name="connsiteY1" fmla="*/ 0 h 83189"/>
                  <a:gd name="connsiteX2" fmla="*/ 73178 w 73178"/>
                  <a:gd name="connsiteY2" fmla="*/ 28354 h 83189"/>
                  <a:gd name="connsiteX3" fmla="*/ 60982 w 73178"/>
                  <a:gd name="connsiteY3" fmla="*/ 28354 h 83189"/>
                  <a:gd name="connsiteX4" fmla="*/ 36589 w 73178"/>
                  <a:gd name="connsiteY4" fmla="*/ 12152 h 83189"/>
                  <a:gd name="connsiteX5" fmla="*/ 12196 w 73178"/>
                  <a:gd name="connsiteY5" fmla="*/ 42531 h 83189"/>
                  <a:gd name="connsiteX6" fmla="*/ 36589 w 73178"/>
                  <a:gd name="connsiteY6" fmla="*/ 72910 h 83189"/>
                  <a:gd name="connsiteX7" fmla="*/ 60982 w 73178"/>
                  <a:gd name="connsiteY7" fmla="*/ 52657 h 83189"/>
                  <a:gd name="connsiteX8" fmla="*/ 73178 w 73178"/>
                  <a:gd name="connsiteY8" fmla="*/ 52657 h 83189"/>
                  <a:gd name="connsiteX9" fmla="*/ 36589 w 73178"/>
                  <a:gd name="connsiteY9" fmla="*/ 83036 h 83189"/>
                  <a:gd name="connsiteX10" fmla="*/ 0 w 73178"/>
                  <a:gd name="connsiteY10" fmla="*/ 42531 h 83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3178" h="83189">
                    <a:moveTo>
                      <a:pt x="0" y="42531"/>
                    </a:moveTo>
                    <a:cubicBezTo>
                      <a:pt x="0" y="20253"/>
                      <a:pt x="12196" y="0"/>
                      <a:pt x="38622" y="0"/>
                    </a:cubicBezTo>
                    <a:cubicBezTo>
                      <a:pt x="56916" y="0"/>
                      <a:pt x="71146" y="10126"/>
                      <a:pt x="73178" y="28354"/>
                    </a:cubicBezTo>
                    <a:lnTo>
                      <a:pt x="60982" y="28354"/>
                    </a:lnTo>
                    <a:cubicBezTo>
                      <a:pt x="56916" y="18227"/>
                      <a:pt x="48785" y="12152"/>
                      <a:pt x="36589" y="12152"/>
                    </a:cubicBezTo>
                    <a:cubicBezTo>
                      <a:pt x="20327" y="12152"/>
                      <a:pt x="12196" y="24303"/>
                      <a:pt x="12196" y="42531"/>
                    </a:cubicBezTo>
                    <a:cubicBezTo>
                      <a:pt x="12196" y="60758"/>
                      <a:pt x="22360" y="72910"/>
                      <a:pt x="36589" y="72910"/>
                    </a:cubicBezTo>
                    <a:cubicBezTo>
                      <a:pt x="48785" y="72910"/>
                      <a:pt x="58949" y="64809"/>
                      <a:pt x="60982" y="52657"/>
                    </a:cubicBezTo>
                    <a:lnTo>
                      <a:pt x="73178" y="52657"/>
                    </a:lnTo>
                    <a:cubicBezTo>
                      <a:pt x="71146" y="72910"/>
                      <a:pt x="56916" y="83036"/>
                      <a:pt x="36589" y="83036"/>
                    </a:cubicBezTo>
                    <a:cubicBezTo>
                      <a:pt x="12196" y="85061"/>
                      <a:pt x="0" y="66834"/>
                      <a:pt x="0" y="42531"/>
                    </a:cubicBez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Graphic 28">
                <a:extLst>
                  <a:ext uri="{FF2B5EF4-FFF2-40B4-BE49-F238E27FC236}">
                    <a16:creationId xmlns:a16="http://schemas.microsoft.com/office/drawing/2014/main" id="{1AE5C3AD-87CA-AE43-B73A-B010C35F5462}"/>
                  </a:ext>
                </a:extLst>
              </p:cNvPr>
              <p:cNvSpPr/>
              <p:nvPr/>
            </p:nvSpPr>
            <p:spPr>
              <a:xfrm>
                <a:off x="4750880" y="1634733"/>
                <a:ext cx="65047" cy="81010"/>
              </a:xfrm>
              <a:custGeom>
                <a:avLst/>
                <a:gdLst>
                  <a:gd name="connsiteX0" fmla="*/ 52851 w 65047"/>
                  <a:gd name="connsiteY0" fmla="*/ 0 h 81010"/>
                  <a:gd name="connsiteX1" fmla="*/ 65047 w 65047"/>
                  <a:gd name="connsiteY1" fmla="*/ 0 h 81010"/>
                  <a:gd name="connsiteX2" fmla="*/ 65047 w 65047"/>
                  <a:gd name="connsiteY2" fmla="*/ 78985 h 81010"/>
                  <a:gd name="connsiteX3" fmla="*/ 52851 w 65047"/>
                  <a:gd name="connsiteY3" fmla="*/ 78985 h 81010"/>
                  <a:gd name="connsiteX4" fmla="*/ 52851 w 65047"/>
                  <a:gd name="connsiteY4" fmla="*/ 44556 h 81010"/>
                  <a:gd name="connsiteX5" fmla="*/ 12196 w 65047"/>
                  <a:gd name="connsiteY5" fmla="*/ 44556 h 81010"/>
                  <a:gd name="connsiteX6" fmla="*/ 12196 w 65047"/>
                  <a:gd name="connsiteY6" fmla="*/ 81011 h 81010"/>
                  <a:gd name="connsiteX7" fmla="*/ 0 w 65047"/>
                  <a:gd name="connsiteY7" fmla="*/ 81011 h 81010"/>
                  <a:gd name="connsiteX8" fmla="*/ 0 w 65047"/>
                  <a:gd name="connsiteY8" fmla="*/ 0 h 81010"/>
                  <a:gd name="connsiteX9" fmla="*/ 12196 w 65047"/>
                  <a:gd name="connsiteY9" fmla="*/ 0 h 81010"/>
                  <a:gd name="connsiteX10" fmla="*/ 12196 w 65047"/>
                  <a:gd name="connsiteY10" fmla="*/ 32404 h 81010"/>
                  <a:gd name="connsiteX11" fmla="*/ 52851 w 65047"/>
                  <a:gd name="connsiteY11" fmla="*/ 32404 h 81010"/>
                  <a:gd name="connsiteX12" fmla="*/ 52851 w 65047"/>
                  <a:gd name="connsiteY12" fmla="*/ 0 h 8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5047" h="81010">
                    <a:moveTo>
                      <a:pt x="52851" y="0"/>
                    </a:moveTo>
                    <a:lnTo>
                      <a:pt x="65047" y="0"/>
                    </a:lnTo>
                    <a:lnTo>
                      <a:pt x="65047" y="78985"/>
                    </a:lnTo>
                    <a:lnTo>
                      <a:pt x="52851" y="78985"/>
                    </a:lnTo>
                    <a:lnTo>
                      <a:pt x="52851" y="44556"/>
                    </a:lnTo>
                    <a:lnTo>
                      <a:pt x="12196" y="44556"/>
                    </a:lnTo>
                    <a:lnTo>
                      <a:pt x="12196" y="81011"/>
                    </a:lnTo>
                    <a:lnTo>
                      <a:pt x="0" y="81011"/>
                    </a:lnTo>
                    <a:lnTo>
                      <a:pt x="0" y="0"/>
                    </a:lnTo>
                    <a:lnTo>
                      <a:pt x="12196" y="0"/>
                    </a:lnTo>
                    <a:lnTo>
                      <a:pt x="12196" y="32404"/>
                    </a:lnTo>
                    <a:lnTo>
                      <a:pt x="52851" y="32404"/>
                    </a:lnTo>
                    <a:lnTo>
                      <a:pt x="52851" y="0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Graphic 28">
                <a:extLst>
                  <a:ext uri="{FF2B5EF4-FFF2-40B4-BE49-F238E27FC236}">
                    <a16:creationId xmlns:a16="http://schemas.microsoft.com/office/drawing/2014/main" id="{155B9699-5B65-6548-879B-E797A19B772C}"/>
                  </a:ext>
                </a:extLst>
              </p:cNvPr>
              <p:cNvSpPr/>
              <p:nvPr/>
            </p:nvSpPr>
            <p:spPr>
              <a:xfrm>
                <a:off x="4840320" y="1634733"/>
                <a:ext cx="56916" cy="81010"/>
              </a:xfrm>
              <a:custGeom>
                <a:avLst/>
                <a:gdLst>
                  <a:gd name="connsiteX0" fmla="*/ 56917 w 56916"/>
                  <a:gd name="connsiteY0" fmla="*/ 12152 h 81010"/>
                  <a:gd name="connsiteX1" fmla="*/ 12197 w 56916"/>
                  <a:gd name="connsiteY1" fmla="*/ 12152 h 81010"/>
                  <a:gd name="connsiteX2" fmla="*/ 12197 w 56916"/>
                  <a:gd name="connsiteY2" fmla="*/ 34430 h 81010"/>
                  <a:gd name="connsiteX3" fmla="*/ 52851 w 56916"/>
                  <a:gd name="connsiteY3" fmla="*/ 34430 h 81010"/>
                  <a:gd name="connsiteX4" fmla="*/ 52851 w 56916"/>
                  <a:gd name="connsiteY4" fmla="*/ 44556 h 81010"/>
                  <a:gd name="connsiteX5" fmla="*/ 12197 w 56916"/>
                  <a:gd name="connsiteY5" fmla="*/ 44556 h 81010"/>
                  <a:gd name="connsiteX6" fmla="*/ 12197 w 56916"/>
                  <a:gd name="connsiteY6" fmla="*/ 70884 h 81010"/>
                  <a:gd name="connsiteX7" fmla="*/ 56917 w 56916"/>
                  <a:gd name="connsiteY7" fmla="*/ 70884 h 81010"/>
                  <a:gd name="connsiteX8" fmla="*/ 56917 w 56916"/>
                  <a:gd name="connsiteY8" fmla="*/ 81011 h 81010"/>
                  <a:gd name="connsiteX9" fmla="*/ 0 w 56916"/>
                  <a:gd name="connsiteY9" fmla="*/ 81011 h 81010"/>
                  <a:gd name="connsiteX10" fmla="*/ 0 w 56916"/>
                  <a:gd name="connsiteY10" fmla="*/ 0 h 81010"/>
                  <a:gd name="connsiteX11" fmla="*/ 56917 w 56916"/>
                  <a:gd name="connsiteY11" fmla="*/ 0 h 81010"/>
                  <a:gd name="connsiteX12" fmla="*/ 56917 w 56916"/>
                  <a:gd name="connsiteY12" fmla="*/ 12152 h 8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916" h="81010">
                    <a:moveTo>
                      <a:pt x="56917" y="12152"/>
                    </a:moveTo>
                    <a:lnTo>
                      <a:pt x="12197" y="12152"/>
                    </a:lnTo>
                    <a:lnTo>
                      <a:pt x="12197" y="34430"/>
                    </a:lnTo>
                    <a:lnTo>
                      <a:pt x="52851" y="34430"/>
                    </a:lnTo>
                    <a:lnTo>
                      <a:pt x="52851" y="44556"/>
                    </a:lnTo>
                    <a:lnTo>
                      <a:pt x="12197" y="44556"/>
                    </a:lnTo>
                    <a:lnTo>
                      <a:pt x="12197" y="70884"/>
                    </a:lnTo>
                    <a:lnTo>
                      <a:pt x="56917" y="70884"/>
                    </a:lnTo>
                    <a:lnTo>
                      <a:pt x="56917" y="81011"/>
                    </a:lnTo>
                    <a:lnTo>
                      <a:pt x="0" y="81011"/>
                    </a:lnTo>
                    <a:lnTo>
                      <a:pt x="0" y="0"/>
                    </a:lnTo>
                    <a:lnTo>
                      <a:pt x="56917" y="0"/>
                    </a:lnTo>
                    <a:lnTo>
                      <a:pt x="56917" y="12152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Graphic 28">
                <a:extLst>
                  <a:ext uri="{FF2B5EF4-FFF2-40B4-BE49-F238E27FC236}">
                    <a16:creationId xmlns:a16="http://schemas.microsoft.com/office/drawing/2014/main" id="{3ED1C43A-F866-254E-AADB-077B23D41A68}"/>
                  </a:ext>
                </a:extLst>
              </p:cNvPr>
              <p:cNvSpPr/>
              <p:nvPr/>
            </p:nvSpPr>
            <p:spPr>
              <a:xfrm>
                <a:off x="4913498" y="1634733"/>
                <a:ext cx="83341" cy="81010"/>
              </a:xfrm>
              <a:custGeom>
                <a:avLst/>
                <a:gdLst>
                  <a:gd name="connsiteX0" fmla="*/ 67080 w 83341"/>
                  <a:gd name="connsiteY0" fmla="*/ 0 h 81010"/>
                  <a:gd name="connsiteX1" fmla="*/ 83342 w 83341"/>
                  <a:gd name="connsiteY1" fmla="*/ 0 h 81010"/>
                  <a:gd name="connsiteX2" fmla="*/ 83342 w 83341"/>
                  <a:gd name="connsiteY2" fmla="*/ 78985 h 81010"/>
                  <a:gd name="connsiteX3" fmla="*/ 71146 w 83341"/>
                  <a:gd name="connsiteY3" fmla="*/ 78985 h 81010"/>
                  <a:gd name="connsiteX4" fmla="*/ 71146 w 83341"/>
                  <a:gd name="connsiteY4" fmla="*/ 56707 h 81010"/>
                  <a:gd name="connsiteX5" fmla="*/ 71146 w 83341"/>
                  <a:gd name="connsiteY5" fmla="*/ 16202 h 81010"/>
                  <a:gd name="connsiteX6" fmla="*/ 65047 w 83341"/>
                  <a:gd name="connsiteY6" fmla="*/ 34430 h 81010"/>
                  <a:gd name="connsiteX7" fmla="*/ 46753 w 83341"/>
                  <a:gd name="connsiteY7" fmla="*/ 81011 h 81010"/>
                  <a:gd name="connsiteX8" fmla="*/ 36589 w 83341"/>
                  <a:gd name="connsiteY8" fmla="*/ 81011 h 81010"/>
                  <a:gd name="connsiteX9" fmla="*/ 18294 w 83341"/>
                  <a:gd name="connsiteY9" fmla="*/ 34430 h 81010"/>
                  <a:gd name="connsiteX10" fmla="*/ 12196 w 83341"/>
                  <a:gd name="connsiteY10" fmla="*/ 16202 h 81010"/>
                  <a:gd name="connsiteX11" fmla="*/ 12196 w 83341"/>
                  <a:gd name="connsiteY11" fmla="*/ 56707 h 81010"/>
                  <a:gd name="connsiteX12" fmla="*/ 12196 w 83341"/>
                  <a:gd name="connsiteY12" fmla="*/ 81011 h 81010"/>
                  <a:gd name="connsiteX13" fmla="*/ 0 w 83341"/>
                  <a:gd name="connsiteY13" fmla="*/ 81011 h 81010"/>
                  <a:gd name="connsiteX14" fmla="*/ 0 w 83341"/>
                  <a:gd name="connsiteY14" fmla="*/ 0 h 81010"/>
                  <a:gd name="connsiteX15" fmla="*/ 16262 w 83341"/>
                  <a:gd name="connsiteY15" fmla="*/ 0 h 81010"/>
                  <a:gd name="connsiteX16" fmla="*/ 34556 w 83341"/>
                  <a:gd name="connsiteY16" fmla="*/ 42531 h 81010"/>
                  <a:gd name="connsiteX17" fmla="*/ 42687 w 83341"/>
                  <a:gd name="connsiteY17" fmla="*/ 64809 h 81010"/>
                  <a:gd name="connsiteX18" fmla="*/ 50818 w 83341"/>
                  <a:gd name="connsiteY18" fmla="*/ 40505 h 81010"/>
                  <a:gd name="connsiteX19" fmla="*/ 67080 w 83341"/>
                  <a:gd name="connsiteY19" fmla="*/ 0 h 8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3341" h="81010">
                    <a:moveTo>
                      <a:pt x="67080" y="0"/>
                    </a:moveTo>
                    <a:lnTo>
                      <a:pt x="83342" y="0"/>
                    </a:lnTo>
                    <a:lnTo>
                      <a:pt x="83342" y="78985"/>
                    </a:lnTo>
                    <a:lnTo>
                      <a:pt x="71146" y="78985"/>
                    </a:lnTo>
                    <a:lnTo>
                      <a:pt x="71146" y="56707"/>
                    </a:lnTo>
                    <a:cubicBezTo>
                      <a:pt x="71146" y="40505"/>
                      <a:pt x="71146" y="26328"/>
                      <a:pt x="71146" y="16202"/>
                    </a:cubicBezTo>
                    <a:cubicBezTo>
                      <a:pt x="69113" y="20253"/>
                      <a:pt x="67080" y="26328"/>
                      <a:pt x="65047" y="34430"/>
                    </a:cubicBezTo>
                    <a:lnTo>
                      <a:pt x="46753" y="81011"/>
                    </a:lnTo>
                    <a:lnTo>
                      <a:pt x="36589" y="81011"/>
                    </a:lnTo>
                    <a:lnTo>
                      <a:pt x="18294" y="34430"/>
                    </a:lnTo>
                    <a:cubicBezTo>
                      <a:pt x="14229" y="26328"/>
                      <a:pt x="12196" y="20253"/>
                      <a:pt x="12196" y="16202"/>
                    </a:cubicBezTo>
                    <a:cubicBezTo>
                      <a:pt x="12196" y="26328"/>
                      <a:pt x="12196" y="40505"/>
                      <a:pt x="12196" y="56707"/>
                    </a:cubicBezTo>
                    <a:lnTo>
                      <a:pt x="12196" y="81011"/>
                    </a:lnTo>
                    <a:lnTo>
                      <a:pt x="0" y="81011"/>
                    </a:lnTo>
                    <a:lnTo>
                      <a:pt x="0" y="0"/>
                    </a:lnTo>
                    <a:lnTo>
                      <a:pt x="16262" y="0"/>
                    </a:lnTo>
                    <a:lnTo>
                      <a:pt x="34556" y="42531"/>
                    </a:lnTo>
                    <a:cubicBezTo>
                      <a:pt x="38622" y="52657"/>
                      <a:pt x="40655" y="60758"/>
                      <a:pt x="42687" y="64809"/>
                    </a:cubicBezTo>
                    <a:cubicBezTo>
                      <a:pt x="44720" y="56707"/>
                      <a:pt x="48785" y="48606"/>
                      <a:pt x="50818" y="40505"/>
                    </a:cubicBezTo>
                    <a:lnTo>
                      <a:pt x="67080" y="0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Graphic 28">
                <a:extLst>
                  <a:ext uri="{FF2B5EF4-FFF2-40B4-BE49-F238E27FC236}">
                    <a16:creationId xmlns:a16="http://schemas.microsoft.com/office/drawing/2014/main" id="{351E26FA-6108-B24D-A8C2-EAE3ABDD8745}"/>
                  </a:ext>
                </a:extLst>
              </p:cNvPr>
              <p:cNvSpPr/>
              <p:nvPr/>
            </p:nvSpPr>
            <p:spPr>
              <a:xfrm>
                <a:off x="5019200" y="1634733"/>
                <a:ext cx="12196" cy="81010"/>
              </a:xfrm>
              <a:custGeom>
                <a:avLst/>
                <a:gdLst>
                  <a:gd name="connsiteX0" fmla="*/ 0 w 12196"/>
                  <a:gd name="connsiteY0" fmla="*/ 81011 h 81010"/>
                  <a:gd name="connsiteX1" fmla="*/ 0 w 12196"/>
                  <a:gd name="connsiteY1" fmla="*/ 0 h 81010"/>
                  <a:gd name="connsiteX2" fmla="*/ 12196 w 12196"/>
                  <a:gd name="connsiteY2" fmla="*/ 0 h 81010"/>
                  <a:gd name="connsiteX3" fmla="*/ 12196 w 12196"/>
                  <a:gd name="connsiteY3" fmla="*/ 78985 h 81010"/>
                  <a:gd name="connsiteX4" fmla="*/ 0 w 12196"/>
                  <a:gd name="connsiteY4" fmla="*/ 78985 h 8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96" h="81010">
                    <a:moveTo>
                      <a:pt x="0" y="81011"/>
                    </a:moveTo>
                    <a:lnTo>
                      <a:pt x="0" y="0"/>
                    </a:lnTo>
                    <a:lnTo>
                      <a:pt x="12196" y="0"/>
                    </a:lnTo>
                    <a:lnTo>
                      <a:pt x="12196" y="78985"/>
                    </a:lnTo>
                    <a:lnTo>
                      <a:pt x="0" y="78985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Graphic 28">
                <a:extLst>
                  <a:ext uri="{FF2B5EF4-FFF2-40B4-BE49-F238E27FC236}">
                    <a16:creationId xmlns:a16="http://schemas.microsoft.com/office/drawing/2014/main" id="{FD3A90FD-68FF-8745-9CAB-4CB96E6F7FC9}"/>
                  </a:ext>
                </a:extLst>
              </p:cNvPr>
              <p:cNvSpPr/>
              <p:nvPr/>
            </p:nvSpPr>
            <p:spPr>
              <a:xfrm>
                <a:off x="5049691" y="1630682"/>
                <a:ext cx="67080" cy="85316"/>
              </a:xfrm>
              <a:custGeom>
                <a:avLst/>
                <a:gdLst>
                  <a:gd name="connsiteX0" fmla="*/ 0 w 67080"/>
                  <a:gd name="connsiteY0" fmla="*/ 58733 h 85316"/>
                  <a:gd name="connsiteX1" fmla="*/ 12196 w 67080"/>
                  <a:gd name="connsiteY1" fmla="*/ 58733 h 85316"/>
                  <a:gd name="connsiteX2" fmla="*/ 34556 w 67080"/>
                  <a:gd name="connsiteY2" fmla="*/ 76960 h 85316"/>
                  <a:gd name="connsiteX3" fmla="*/ 52851 w 67080"/>
                  <a:gd name="connsiteY3" fmla="*/ 62783 h 85316"/>
                  <a:gd name="connsiteX4" fmla="*/ 34556 w 67080"/>
                  <a:gd name="connsiteY4" fmla="*/ 48606 h 85316"/>
                  <a:gd name="connsiteX5" fmla="*/ 28458 w 67080"/>
                  <a:gd name="connsiteY5" fmla="*/ 46581 h 85316"/>
                  <a:gd name="connsiteX6" fmla="*/ 4065 w 67080"/>
                  <a:gd name="connsiteY6" fmla="*/ 22278 h 85316"/>
                  <a:gd name="connsiteX7" fmla="*/ 32524 w 67080"/>
                  <a:gd name="connsiteY7" fmla="*/ 0 h 85316"/>
                  <a:gd name="connsiteX8" fmla="*/ 65047 w 67080"/>
                  <a:gd name="connsiteY8" fmla="*/ 24303 h 85316"/>
                  <a:gd name="connsiteX9" fmla="*/ 52851 w 67080"/>
                  <a:gd name="connsiteY9" fmla="*/ 24303 h 85316"/>
                  <a:gd name="connsiteX10" fmla="*/ 32524 w 67080"/>
                  <a:gd name="connsiteY10" fmla="*/ 10126 h 85316"/>
                  <a:gd name="connsiteX11" fmla="*/ 16262 w 67080"/>
                  <a:gd name="connsiteY11" fmla="*/ 22278 h 85316"/>
                  <a:gd name="connsiteX12" fmla="*/ 34556 w 67080"/>
                  <a:gd name="connsiteY12" fmla="*/ 36455 h 85316"/>
                  <a:gd name="connsiteX13" fmla="*/ 40655 w 67080"/>
                  <a:gd name="connsiteY13" fmla="*/ 38480 h 85316"/>
                  <a:gd name="connsiteX14" fmla="*/ 67080 w 67080"/>
                  <a:gd name="connsiteY14" fmla="*/ 60758 h 85316"/>
                  <a:gd name="connsiteX15" fmla="*/ 36589 w 67080"/>
                  <a:gd name="connsiteY15" fmla="*/ 85061 h 85316"/>
                  <a:gd name="connsiteX16" fmla="*/ 0 w 67080"/>
                  <a:gd name="connsiteY16" fmla="*/ 58733 h 8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7080" h="85316">
                    <a:moveTo>
                      <a:pt x="0" y="58733"/>
                    </a:moveTo>
                    <a:lnTo>
                      <a:pt x="12196" y="58733"/>
                    </a:lnTo>
                    <a:cubicBezTo>
                      <a:pt x="12196" y="70884"/>
                      <a:pt x="20327" y="76960"/>
                      <a:pt x="34556" y="76960"/>
                    </a:cubicBezTo>
                    <a:cubicBezTo>
                      <a:pt x="46753" y="76960"/>
                      <a:pt x="52851" y="72910"/>
                      <a:pt x="52851" y="62783"/>
                    </a:cubicBezTo>
                    <a:cubicBezTo>
                      <a:pt x="52851" y="56707"/>
                      <a:pt x="48786" y="52657"/>
                      <a:pt x="34556" y="48606"/>
                    </a:cubicBezTo>
                    <a:lnTo>
                      <a:pt x="28458" y="46581"/>
                    </a:lnTo>
                    <a:cubicBezTo>
                      <a:pt x="12196" y="42531"/>
                      <a:pt x="4065" y="36455"/>
                      <a:pt x="4065" y="22278"/>
                    </a:cubicBezTo>
                    <a:cubicBezTo>
                      <a:pt x="4065" y="10126"/>
                      <a:pt x="14229" y="0"/>
                      <a:pt x="32524" y="0"/>
                    </a:cubicBezTo>
                    <a:cubicBezTo>
                      <a:pt x="54884" y="0"/>
                      <a:pt x="65047" y="10126"/>
                      <a:pt x="65047" y="24303"/>
                    </a:cubicBezTo>
                    <a:lnTo>
                      <a:pt x="52851" y="24303"/>
                    </a:lnTo>
                    <a:cubicBezTo>
                      <a:pt x="52851" y="14177"/>
                      <a:pt x="46753" y="10126"/>
                      <a:pt x="32524" y="10126"/>
                    </a:cubicBezTo>
                    <a:cubicBezTo>
                      <a:pt x="22360" y="10126"/>
                      <a:pt x="16262" y="14177"/>
                      <a:pt x="16262" y="22278"/>
                    </a:cubicBezTo>
                    <a:cubicBezTo>
                      <a:pt x="16262" y="32404"/>
                      <a:pt x="26426" y="34430"/>
                      <a:pt x="34556" y="36455"/>
                    </a:cubicBezTo>
                    <a:lnTo>
                      <a:pt x="40655" y="38480"/>
                    </a:lnTo>
                    <a:cubicBezTo>
                      <a:pt x="58949" y="42531"/>
                      <a:pt x="67080" y="48606"/>
                      <a:pt x="67080" y="60758"/>
                    </a:cubicBezTo>
                    <a:cubicBezTo>
                      <a:pt x="67080" y="74935"/>
                      <a:pt x="54884" y="85061"/>
                      <a:pt x="36589" y="85061"/>
                    </a:cubicBezTo>
                    <a:cubicBezTo>
                      <a:pt x="12196" y="87087"/>
                      <a:pt x="0" y="76960"/>
                      <a:pt x="0" y="58733"/>
                    </a:cubicBez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Graphic 28">
                <a:extLst>
                  <a:ext uri="{FF2B5EF4-FFF2-40B4-BE49-F238E27FC236}">
                    <a16:creationId xmlns:a16="http://schemas.microsoft.com/office/drawing/2014/main" id="{1BDD180A-6048-9143-94EB-77019761DC7B}"/>
                  </a:ext>
                </a:extLst>
              </p:cNvPr>
              <p:cNvSpPr/>
              <p:nvPr/>
            </p:nvSpPr>
            <p:spPr>
              <a:xfrm>
                <a:off x="5122870" y="1634733"/>
                <a:ext cx="65047" cy="78985"/>
              </a:xfrm>
              <a:custGeom>
                <a:avLst/>
                <a:gdLst>
                  <a:gd name="connsiteX0" fmla="*/ 65047 w 65047"/>
                  <a:gd name="connsiteY0" fmla="*/ 0 h 78985"/>
                  <a:gd name="connsiteX1" fmla="*/ 65047 w 65047"/>
                  <a:gd name="connsiteY1" fmla="*/ 10126 h 78985"/>
                  <a:gd name="connsiteX2" fmla="*/ 38622 w 65047"/>
                  <a:gd name="connsiteY2" fmla="*/ 10126 h 78985"/>
                  <a:gd name="connsiteX3" fmla="*/ 38622 w 65047"/>
                  <a:gd name="connsiteY3" fmla="*/ 78985 h 78985"/>
                  <a:gd name="connsiteX4" fmla="*/ 26426 w 65047"/>
                  <a:gd name="connsiteY4" fmla="*/ 78985 h 78985"/>
                  <a:gd name="connsiteX5" fmla="*/ 26426 w 65047"/>
                  <a:gd name="connsiteY5" fmla="*/ 12152 h 78985"/>
                  <a:gd name="connsiteX6" fmla="*/ 0 w 65047"/>
                  <a:gd name="connsiteY6" fmla="*/ 12152 h 78985"/>
                  <a:gd name="connsiteX7" fmla="*/ 0 w 65047"/>
                  <a:gd name="connsiteY7" fmla="*/ 0 h 78985"/>
                  <a:gd name="connsiteX8" fmla="*/ 65047 w 65047"/>
                  <a:gd name="connsiteY8" fmla="*/ 0 h 7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5047" h="78985">
                    <a:moveTo>
                      <a:pt x="65047" y="0"/>
                    </a:moveTo>
                    <a:lnTo>
                      <a:pt x="65047" y="10126"/>
                    </a:lnTo>
                    <a:lnTo>
                      <a:pt x="38622" y="10126"/>
                    </a:lnTo>
                    <a:lnTo>
                      <a:pt x="38622" y="78985"/>
                    </a:lnTo>
                    <a:lnTo>
                      <a:pt x="26426" y="78985"/>
                    </a:lnTo>
                    <a:lnTo>
                      <a:pt x="26426" y="12152"/>
                    </a:lnTo>
                    <a:lnTo>
                      <a:pt x="0" y="12152"/>
                    </a:lnTo>
                    <a:lnTo>
                      <a:pt x="0" y="0"/>
                    </a:lnTo>
                    <a:lnTo>
                      <a:pt x="65047" y="0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Graphic 28">
                <a:extLst>
                  <a:ext uri="{FF2B5EF4-FFF2-40B4-BE49-F238E27FC236}">
                    <a16:creationId xmlns:a16="http://schemas.microsoft.com/office/drawing/2014/main" id="{4D823D30-4D7E-724B-A164-2C2A9529AB21}"/>
                  </a:ext>
                </a:extLst>
              </p:cNvPr>
              <p:cNvSpPr/>
              <p:nvPr/>
            </p:nvSpPr>
            <p:spPr>
              <a:xfrm>
                <a:off x="5206211" y="1634733"/>
                <a:ext cx="63014" cy="81010"/>
              </a:xfrm>
              <a:custGeom>
                <a:avLst/>
                <a:gdLst>
                  <a:gd name="connsiteX0" fmla="*/ 60982 w 63014"/>
                  <a:gd name="connsiteY0" fmla="*/ 70884 h 81010"/>
                  <a:gd name="connsiteX1" fmla="*/ 63015 w 63014"/>
                  <a:gd name="connsiteY1" fmla="*/ 81011 h 81010"/>
                  <a:gd name="connsiteX2" fmla="*/ 50818 w 63014"/>
                  <a:gd name="connsiteY2" fmla="*/ 81011 h 81010"/>
                  <a:gd name="connsiteX3" fmla="*/ 48786 w 63014"/>
                  <a:gd name="connsiteY3" fmla="*/ 70884 h 81010"/>
                  <a:gd name="connsiteX4" fmla="*/ 48786 w 63014"/>
                  <a:gd name="connsiteY4" fmla="*/ 62783 h 81010"/>
                  <a:gd name="connsiteX5" fmla="*/ 34557 w 63014"/>
                  <a:gd name="connsiteY5" fmla="*/ 48606 h 81010"/>
                  <a:gd name="connsiteX6" fmla="*/ 12197 w 63014"/>
                  <a:gd name="connsiteY6" fmla="*/ 48606 h 81010"/>
                  <a:gd name="connsiteX7" fmla="*/ 12197 w 63014"/>
                  <a:gd name="connsiteY7" fmla="*/ 81011 h 81010"/>
                  <a:gd name="connsiteX8" fmla="*/ 0 w 63014"/>
                  <a:gd name="connsiteY8" fmla="*/ 81011 h 81010"/>
                  <a:gd name="connsiteX9" fmla="*/ 0 w 63014"/>
                  <a:gd name="connsiteY9" fmla="*/ 0 h 81010"/>
                  <a:gd name="connsiteX10" fmla="*/ 34557 w 63014"/>
                  <a:gd name="connsiteY10" fmla="*/ 0 h 81010"/>
                  <a:gd name="connsiteX11" fmla="*/ 63015 w 63014"/>
                  <a:gd name="connsiteY11" fmla="*/ 22278 h 81010"/>
                  <a:gd name="connsiteX12" fmla="*/ 48786 w 63014"/>
                  <a:gd name="connsiteY12" fmla="*/ 42531 h 81010"/>
                  <a:gd name="connsiteX13" fmla="*/ 60982 w 63014"/>
                  <a:gd name="connsiteY13" fmla="*/ 58733 h 81010"/>
                  <a:gd name="connsiteX14" fmla="*/ 60982 w 63014"/>
                  <a:gd name="connsiteY14" fmla="*/ 70884 h 81010"/>
                  <a:gd name="connsiteX15" fmla="*/ 34557 w 63014"/>
                  <a:gd name="connsiteY15" fmla="*/ 38480 h 81010"/>
                  <a:gd name="connsiteX16" fmla="*/ 48786 w 63014"/>
                  <a:gd name="connsiteY16" fmla="*/ 24303 h 81010"/>
                  <a:gd name="connsiteX17" fmla="*/ 32524 w 63014"/>
                  <a:gd name="connsiteY17" fmla="*/ 12152 h 81010"/>
                  <a:gd name="connsiteX18" fmla="*/ 10164 w 63014"/>
                  <a:gd name="connsiteY18" fmla="*/ 12152 h 81010"/>
                  <a:gd name="connsiteX19" fmla="*/ 10164 w 63014"/>
                  <a:gd name="connsiteY19" fmla="*/ 38480 h 81010"/>
                  <a:gd name="connsiteX20" fmla="*/ 34557 w 63014"/>
                  <a:gd name="connsiteY20" fmla="*/ 38480 h 8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014" h="81010">
                    <a:moveTo>
                      <a:pt x="60982" y="70884"/>
                    </a:moveTo>
                    <a:cubicBezTo>
                      <a:pt x="60982" y="74935"/>
                      <a:pt x="63015" y="78985"/>
                      <a:pt x="63015" y="81011"/>
                    </a:cubicBezTo>
                    <a:lnTo>
                      <a:pt x="50818" y="81011"/>
                    </a:lnTo>
                    <a:cubicBezTo>
                      <a:pt x="48786" y="78985"/>
                      <a:pt x="48786" y="74935"/>
                      <a:pt x="48786" y="70884"/>
                    </a:cubicBezTo>
                    <a:lnTo>
                      <a:pt x="48786" y="62783"/>
                    </a:lnTo>
                    <a:cubicBezTo>
                      <a:pt x="48786" y="52657"/>
                      <a:pt x="44720" y="48606"/>
                      <a:pt x="34557" y="48606"/>
                    </a:cubicBezTo>
                    <a:lnTo>
                      <a:pt x="12197" y="48606"/>
                    </a:lnTo>
                    <a:lnTo>
                      <a:pt x="12197" y="81011"/>
                    </a:lnTo>
                    <a:lnTo>
                      <a:pt x="0" y="81011"/>
                    </a:lnTo>
                    <a:lnTo>
                      <a:pt x="0" y="0"/>
                    </a:lnTo>
                    <a:lnTo>
                      <a:pt x="34557" y="0"/>
                    </a:lnTo>
                    <a:cubicBezTo>
                      <a:pt x="50818" y="0"/>
                      <a:pt x="63015" y="8101"/>
                      <a:pt x="63015" y="22278"/>
                    </a:cubicBezTo>
                    <a:cubicBezTo>
                      <a:pt x="63015" y="32404"/>
                      <a:pt x="58949" y="38480"/>
                      <a:pt x="48786" y="42531"/>
                    </a:cubicBezTo>
                    <a:cubicBezTo>
                      <a:pt x="56917" y="44556"/>
                      <a:pt x="58949" y="50632"/>
                      <a:pt x="60982" y="58733"/>
                    </a:cubicBezTo>
                    <a:lnTo>
                      <a:pt x="60982" y="70884"/>
                    </a:lnTo>
                    <a:close/>
                    <a:moveTo>
                      <a:pt x="34557" y="38480"/>
                    </a:moveTo>
                    <a:cubicBezTo>
                      <a:pt x="42687" y="38480"/>
                      <a:pt x="48786" y="34430"/>
                      <a:pt x="48786" y="24303"/>
                    </a:cubicBezTo>
                    <a:cubicBezTo>
                      <a:pt x="48786" y="16202"/>
                      <a:pt x="42687" y="12152"/>
                      <a:pt x="32524" y="12152"/>
                    </a:cubicBezTo>
                    <a:lnTo>
                      <a:pt x="10164" y="12152"/>
                    </a:lnTo>
                    <a:lnTo>
                      <a:pt x="10164" y="38480"/>
                    </a:lnTo>
                    <a:lnTo>
                      <a:pt x="34557" y="38480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Graphic 28">
                <a:extLst>
                  <a:ext uri="{FF2B5EF4-FFF2-40B4-BE49-F238E27FC236}">
                    <a16:creationId xmlns:a16="http://schemas.microsoft.com/office/drawing/2014/main" id="{EAD426DB-CADC-C648-AA88-EC76CC3BF189}"/>
                  </a:ext>
                </a:extLst>
              </p:cNvPr>
              <p:cNvSpPr/>
              <p:nvPr/>
            </p:nvSpPr>
            <p:spPr>
              <a:xfrm>
                <a:off x="5275324" y="1634733"/>
                <a:ext cx="73178" cy="81010"/>
              </a:xfrm>
              <a:custGeom>
                <a:avLst/>
                <a:gdLst>
                  <a:gd name="connsiteX0" fmla="*/ 58949 w 73178"/>
                  <a:gd name="connsiteY0" fmla="*/ 0 h 81010"/>
                  <a:gd name="connsiteX1" fmla="*/ 73178 w 73178"/>
                  <a:gd name="connsiteY1" fmla="*/ 0 h 81010"/>
                  <a:gd name="connsiteX2" fmla="*/ 42687 w 73178"/>
                  <a:gd name="connsiteY2" fmla="*/ 48606 h 81010"/>
                  <a:gd name="connsiteX3" fmla="*/ 42687 w 73178"/>
                  <a:gd name="connsiteY3" fmla="*/ 81011 h 81010"/>
                  <a:gd name="connsiteX4" fmla="*/ 30491 w 73178"/>
                  <a:gd name="connsiteY4" fmla="*/ 81011 h 81010"/>
                  <a:gd name="connsiteX5" fmla="*/ 30491 w 73178"/>
                  <a:gd name="connsiteY5" fmla="*/ 48606 h 81010"/>
                  <a:gd name="connsiteX6" fmla="*/ 0 w 73178"/>
                  <a:gd name="connsiteY6" fmla="*/ 0 h 81010"/>
                  <a:gd name="connsiteX7" fmla="*/ 14229 w 73178"/>
                  <a:gd name="connsiteY7" fmla="*/ 0 h 81010"/>
                  <a:gd name="connsiteX8" fmla="*/ 24393 w 73178"/>
                  <a:gd name="connsiteY8" fmla="*/ 16202 h 81010"/>
                  <a:gd name="connsiteX9" fmla="*/ 30491 w 73178"/>
                  <a:gd name="connsiteY9" fmla="*/ 26328 h 81010"/>
                  <a:gd name="connsiteX10" fmla="*/ 36589 w 73178"/>
                  <a:gd name="connsiteY10" fmla="*/ 36455 h 81010"/>
                  <a:gd name="connsiteX11" fmla="*/ 48786 w 73178"/>
                  <a:gd name="connsiteY11" fmla="*/ 16202 h 81010"/>
                  <a:gd name="connsiteX12" fmla="*/ 58949 w 73178"/>
                  <a:gd name="connsiteY12" fmla="*/ 0 h 81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3178" h="81010">
                    <a:moveTo>
                      <a:pt x="58949" y="0"/>
                    </a:moveTo>
                    <a:lnTo>
                      <a:pt x="73178" y="0"/>
                    </a:lnTo>
                    <a:lnTo>
                      <a:pt x="42687" y="48606"/>
                    </a:lnTo>
                    <a:lnTo>
                      <a:pt x="42687" y="81011"/>
                    </a:lnTo>
                    <a:lnTo>
                      <a:pt x="30491" y="81011"/>
                    </a:lnTo>
                    <a:lnTo>
                      <a:pt x="30491" y="48606"/>
                    </a:lnTo>
                    <a:lnTo>
                      <a:pt x="0" y="0"/>
                    </a:lnTo>
                    <a:lnTo>
                      <a:pt x="14229" y="0"/>
                    </a:lnTo>
                    <a:lnTo>
                      <a:pt x="24393" y="16202"/>
                    </a:lnTo>
                    <a:cubicBezTo>
                      <a:pt x="24393" y="18227"/>
                      <a:pt x="26426" y="20253"/>
                      <a:pt x="30491" y="26328"/>
                    </a:cubicBezTo>
                    <a:cubicBezTo>
                      <a:pt x="32524" y="30379"/>
                      <a:pt x="34557" y="34430"/>
                      <a:pt x="36589" y="36455"/>
                    </a:cubicBezTo>
                    <a:cubicBezTo>
                      <a:pt x="40655" y="28354"/>
                      <a:pt x="44720" y="22278"/>
                      <a:pt x="48786" y="16202"/>
                    </a:cubicBezTo>
                    <a:lnTo>
                      <a:pt x="58949" y="0"/>
                    </a:lnTo>
                    <a:close/>
                  </a:path>
                </a:pathLst>
              </a:custGeom>
              <a:grpFill/>
              <a:ln w="202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29EA7E37-F86A-0244-85CF-89D07689C9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9876" y="2717456"/>
            <a:ext cx="6208881" cy="433452"/>
          </a:xfrm>
          <a:prstGeom prst="rect">
            <a:avLst/>
          </a:prstGeom>
        </p:spPr>
        <p:txBody>
          <a:bodyPr lIns="0" tIns="0" rIns="0" bIns="0" anchor="ctr"/>
          <a:lstStyle>
            <a:lvl1pPr marL="7620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558800" indent="0">
              <a:buNone/>
              <a:defRPr b="1">
                <a:solidFill>
                  <a:schemeClr val="bg1"/>
                </a:solidFill>
                <a:latin typeface="+mj-lt"/>
              </a:defRPr>
            </a:lvl2pPr>
            <a:lvl3pPr marL="1028700" indent="0">
              <a:buNone/>
              <a:defRPr b="1">
                <a:solidFill>
                  <a:schemeClr val="bg1"/>
                </a:solidFill>
                <a:latin typeface="+mj-lt"/>
              </a:defRPr>
            </a:lvl3pPr>
            <a:lvl4pPr marL="1498600" indent="0">
              <a:buNone/>
              <a:defRPr b="1">
                <a:solidFill>
                  <a:schemeClr val="bg1"/>
                </a:solidFill>
                <a:latin typeface="+mj-lt"/>
              </a:defRPr>
            </a:lvl4pPr>
            <a:lvl5pPr marL="1955800" indent="0">
              <a:buNone/>
              <a:defRPr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header -white bckgrd w logo footer" preserve="1" userDrawn="1">
  <p:cSld name="2_title header -white bckgrd w logo foo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 txBox="1">
            <a:spLocks noGrp="1"/>
          </p:cNvSpPr>
          <p:nvPr>
            <p:ph type="title"/>
          </p:nvPr>
        </p:nvSpPr>
        <p:spPr>
          <a:xfrm>
            <a:off x="440056" y="597169"/>
            <a:ext cx="825118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entury Gothic"/>
              <a:buNone/>
              <a:defRPr sz="2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2;p13">
            <a:extLst>
              <a:ext uri="{FF2B5EF4-FFF2-40B4-BE49-F238E27FC236}">
                <a16:creationId xmlns:a16="http://schemas.microsoft.com/office/drawing/2014/main" id="{C14C50F6-4BCA-3044-9C6C-BCA520BF25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32935" y="4652648"/>
            <a:ext cx="7919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orbe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3159FD2-35F0-294D-AA1B-DA9E3C8BB5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100" y="4684304"/>
            <a:ext cx="704088" cy="27757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9A48A8A-CEF1-A243-8128-BCB3B8E1B139}"/>
              </a:ext>
            </a:extLst>
          </p:cNvPr>
          <p:cNvCxnSpPr>
            <a:cxnSpLocks/>
          </p:cNvCxnSpPr>
          <p:nvPr userDrawn="1"/>
        </p:nvCxnSpPr>
        <p:spPr>
          <a:xfrm flipH="1">
            <a:off x="502920" y="517398"/>
            <a:ext cx="466344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9AE78-B73B-E044-89C5-B70BFFFEDC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436" y="1428750"/>
            <a:ext cx="8256558" cy="163121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Aft>
                <a:spcPts val="600"/>
              </a:spcAft>
              <a:defRPr sz="1600">
                <a:latin typeface="+mj-lt"/>
              </a:defRPr>
            </a:lvl1pPr>
            <a:lvl2pPr>
              <a:spcAft>
                <a:spcPts val="600"/>
              </a:spcAft>
              <a:defRPr sz="1600">
                <a:latin typeface="+mj-lt"/>
              </a:defRPr>
            </a:lvl2pPr>
            <a:lvl3pPr>
              <a:spcAft>
                <a:spcPts val="600"/>
              </a:spcAft>
              <a:defRPr sz="1600">
                <a:latin typeface="+mj-lt"/>
              </a:defRPr>
            </a:lvl3pPr>
            <a:lvl4pPr>
              <a:spcAft>
                <a:spcPts val="600"/>
              </a:spcAft>
              <a:defRPr sz="1600">
                <a:latin typeface="+mj-lt"/>
              </a:defRPr>
            </a:lvl4pPr>
            <a:lvl5pPr>
              <a:spcAft>
                <a:spcPts val="600"/>
              </a:spcAft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6993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" userDrawn="1">
          <p15:clr>
            <a:srgbClr val="FBAE40"/>
          </p15:clr>
        </p15:guide>
        <p15:guide id="2" pos="312" userDrawn="1">
          <p15:clr>
            <a:srgbClr val="FBAE40"/>
          </p15:clr>
        </p15:guide>
        <p15:guide id="3" pos="549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3E02-0C1C-2840-A61B-6DF070D14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179" y="1602604"/>
            <a:ext cx="1590951" cy="146019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oogle Shape;12;p13">
            <a:extLst>
              <a:ext uri="{FF2B5EF4-FFF2-40B4-BE49-F238E27FC236}">
                <a16:creationId xmlns:a16="http://schemas.microsoft.com/office/drawing/2014/main" id="{D00E8D1A-5A8C-8F4C-9BE2-E8871F8CC8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932935" y="4652648"/>
            <a:ext cx="791965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orbe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CFC1E95-2BC2-DC44-BF77-528DCD68DE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100" y="4684304"/>
            <a:ext cx="704088" cy="27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46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Break_2" preserve="1">
  <p:cSld name="1_SectionBreak_2">
    <p:bg>
      <p:bgPr>
        <a:solidFill>
          <a:schemeClr val="tx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415109" y="2289542"/>
            <a:ext cx="845457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 cap="none">
                <a:solidFill>
                  <a:schemeClr val="lt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251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Break_2" preserve="1" userDrawn="1">
  <p:cSld name="Thank">
    <p:bg>
      <p:bgPr>
        <a:solidFill>
          <a:schemeClr val="tx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DD9FC94-C0E7-CB49-8FBA-592476054C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896" y="1698588"/>
            <a:ext cx="2322419" cy="930984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76200" indent="0">
              <a:buNone/>
              <a:defRPr sz="14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880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2870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49860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95580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Name and Title</a:t>
            </a:r>
          </a:p>
          <a:p>
            <a:pPr lvl="0"/>
            <a:r>
              <a:rPr lang="en-US" dirty="0" err="1"/>
              <a:t>name@swoop.com</a:t>
            </a:r>
            <a:endParaRPr lang="en-US" dirty="0"/>
          </a:p>
          <a:p>
            <a:pPr lvl="0"/>
            <a:r>
              <a:rPr lang="en-US" dirty="0"/>
              <a:t>Phone Number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C5EE2CA-8900-204A-AD34-DFC8338B4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0431" y="2708462"/>
            <a:ext cx="932688" cy="36769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B9FEDAD-BD4C-D848-83CA-EAECC4418E46}"/>
              </a:ext>
            </a:extLst>
          </p:cNvPr>
          <p:cNvSpPr txBox="1">
            <a:spLocks/>
          </p:cNvSpPr>
          <p:nvPr userDrawn="1"/>
        </p:nvSpPr>
        <p:spPr>
          <a:xfrm>
            <a:off x="3827540" y="3203484"/>
            <a:ext cx="4706860" cy="160888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900" b="1" dirty="0">
                <a:solidFill>
                  <a:schemeClr val="bg1"/>
                </a:solidFill>
              </a:rPr>
              <a:t>Swoop</a:t>
            </a:r>
            <a:r>
              <a:rPr lang="en-US" sz="900" dirty="0">
                <a:solidFill>
                  <a:schemeClr val="bg1"/>
                </a:solidFill>
              </a:rPr>
              <a:t> (</a:t>
            </a:r>
            <a:r>
              <a:rPr lang="en-US" sz="9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http://www.swoop.com/</a:t>
            </a:r>
            <a:r>
              <a:rPr lang="en-US" sz="900" dirty="0">
                <a:solidFill>
                  <a:schemeClr val="bg1"/>
                </a:solidFill>
              </a:rPr>
              <a:t>), part of Real Chemistry, empowers the world’s leading pharmaceutical brands to better-educate patients about disease states and the therapies that could remedy their conditions, as well as enable them to become active participants in their treatment journey. Swoop’s HIPAA-certified and NAI-accredited system of engagement uncovers unique target audiences for precisely activating patient populations and their healthcare ecosystems through cross-channel marketing strategies. By utilizing artificial intelligence, machine learning and evolutionary computation in conjunction with a real world data universe of over 300 million de-identified patients and 65 billion anonymized social determinants of health signals, Swoop's segments are superior in audience quality, lead to optimal conversion and drive increase Rx lift.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DC25D7F-E2F4-D644-A46B-340C369D914A}"/>
              </a:ext>
            </a:extLst>
          </p:cNvPr>
          <p:cNvGrpSpPr/>
          <p:nvPr userDrawn="1"/>
        </p:nvGrpSpPr>
        <p:grpSpPr>
          <a:xfrm>
            <a:off x="664975" y="991245"/>
            <a:ext cx="3319044" cy="619363"/>
            <a:chOff x="520596" y="1619498"/>
            <a:chExt cx="3319044" cy="61936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B1541CE-C12F-D449-AB4A-E0654F89C2F1}"/>
                </a:ext>
              </a:extLst>
            </p:cNvPr>
            <p:cNvSpPr txBox="1"/>
            <p:nvPr/>
          </p:nvSpPr>
          <p:spPr>
            <a:xfrm>
              <a:off x="520596" y="1715641"/>
              <a:ext cx="331904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+mn-lt"/>
                </a:rPr>
                <a:t>THANK YOU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18BA95E-B944-B545-9B9A-89958E5457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1453" y="1619498"/>
              <a:ext cx="426056" cy="0"/>
            </a:xfrm>
            <a:prstGeom prst="line">
              <a:avLst/>
            </a:prstGeom>
            <a:ln w="381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6FCB96-D0B1-464F-823D-E6F9E95CD7E7}"/>
              </a:ext>
            </a:extLst>
          </p:cNvPr>
          <p:cNvCxnSpPr>
            <a:cxnSpLocks/>
          </p:cNvCxnSpPr>
          <p:nvPr userDrawn="1"/>
        </p:nvCxnSpPr>
        <p:spPr>
          <a:xfrm>
            <a:off x="3379503" y="1213327"/>
            <a:ext cx="0" cy="393017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D1F116F5-1685-0043-8B69-76189D033362}"/>
              </a:ext>
            </a:extLst>
          </p:cNvPr>
          <p:cNvSpPr/>
          <p:nvPr userDrawn="1"/>
        </p:nvSpPr>
        <p:spPr>
          <a:xfrm>
            <a:off x="3297207" y="1213327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3E0A31-E255-B041-9397-157E5EC5D154}"/>
              </a:ext>
            </a:extLst>
          </p:cNvPr>
          <p:cNvSpPr/>
          <p:nvPr userDrawn="1"/>
        </p:nvSpPr>
        <p:spPr>
          <a:xfrm>
            <a:off x="3297207" y="2834164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7DE18-B221-4145-8F75-A6B77E25108A}"/>
              </a:ext>
            </a:extLst>
          </p:cNvPr>
          <p:cNvSpPr/>
          <p:nvPr userDrawn="1"/>
        </p:nvSpPr>
        <p:spPr>
          <a:xfrm>
            <a:off x="0" y="0"/>
            <a:ext cx="9144000" cy="1306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898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1E733-4E54-2E48-B70F-B79C1C029560}" type="datetimeFigureOut">
              <a:rPr lang="en-US" smtClean="0"/>
              <a:t>6/23/24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386BA-ACAD-994D-BDAE-6A2D62CF5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0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6" r:id="rId3"/>
    <p:sldLayoutId id="2147483657" r:id="rId4"/>
    <p:sldLayoutId id="2147483658" r:id="rId5"/>
    <p:sldLayoutId id="214748366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j-lt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j-lt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2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5664" userDrawn="1">
          <p15:clr>
            <a:srgbClr val="F26B43"/>
          </p15:clr>
        </p15:guide>
        <p15:guide id="4" orient="horz" pos="3084" userDrawn="1">
          <p15:clr>
            <a:srgbClr val="F26B43"/>
          </p15:clr>
        </p15:guide>
        <p15:guide id="5" orient="horz" pos="3036" userDrawn="1">
          <p15:clr>
            <a:srgbClr val="F26B43"/>
          </p15:clr>
        </p15:guide>
        <p15:guide id="6" orient="horz" pos="708" userDrawn="1">
          <p15:clr>
            <a:srgbClr val="F26B43"/>
          </p15:clr>
        </p15:guide>
        <p15:guide id="8" pos="4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F40DBA5-D662-1B4D-A705-C185780F4E34}"/>
              </a:ext>
            </a:extLst>
          </p:cNvPr>
          <p:cNvCxnSpPr>
            <a:cxnSpLocks/>
          </p:cNvCxnSpPr>
          <p:nvPr/>
        </p:nvCxnSpPr>
        <p:spPr>
          <a:xfrm flipH="1" flipV="1">
            <a:off x="1539079" y="2664699"/>
            <a:ext cx="502920" cy="0"/>
          </a:xfrm>
          <a:prstGeom prst="line">
            <a:avLst/>
          </a:prstGeom>
          <a:ln w="381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A18D8C-17CB-0041-905D-B663EF2D1A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60110" y="2879501"/>
            <a:ext cx="6208881" cy="833266"/>
          </a:xfrm>
        </p:spPr>
        <p:txBody>
          <a:bodyPr/>
          <a:lstStyle/>
          <a:p>
            <a:r>
              <a:rPr lang="en-US" dirty="0"/>
              <a:t>GIST Cancer Drug </a:t>
            </a:r>
          </a:p>
          <a:p>
            <a:r>
              <a:rPr lang="en-US" dirty="0"/>
              <a:t>Campaign Wrap Report</a:t>
            </a:r>
          </a:p>
          <a:p>
            <a:r>
              <a:rPr lang="en-US" dirty="0"/>
              <a:t>1/3/23 – 3/31/23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A1F0C9-20D1-0CFA-0F22-4150F98894DC}"/>
              </a:ext>
            </a:extLst>
          </p:cNvPr>
          <p:cNvSpPr/>
          <p:nvPr/>
        </p:nvSpPr>
        <p:spPr>
          <a:xfrm>
            <a:off x="6781" y="4201334"/>
            <a:ext cx="9144000" cy="942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8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7E2CD5E-712A-EA4D-9BE8-C507DCB74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968" y="221874"/>
            <a:ext cx="3380032" cy="45765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2CEB774-7289-BC4B-819C-61FAA9D66513}"/>
              </a:ext>
            </a:extLst>
          </p:cNvPr>
          <p:cNvSpPr/>
          <p:nvPr/>
        </p:nvSpPr>
        <p:spPr>
          <a:xfrm>
            <a:off x="1483244" y="0"/>
            <a:ext cx="7660756" cy="692561"/>
          </a:xfrm>
          <a:prstGeom prst="rect">
            <a:avLst/>
          </a:prstGeom>
          <a:gradFill>
            <a:gsLst>
              <a:gs pos="85000">
                <a:schemeClr val="accent1">
                  <a:lumMod val="5000"/>
                  <a:lumOff val="95000"/>
                </a:schemeClr>
              </a:gs>
              <a:gs pos="63000">
                <a:srgbClr val="FDFEFE">
                  <a:alpha val="0"/>
                </a:srgbClr>
              </a:gs>
              <a:gs pos="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2DA82-5C1D-314A-969F-7278D0F6C1FE}"/>
              </a:ext>
            </a:extLst>
          </p:cNvPr>
          <p:cNvSpPr txBox="1"/>
          <p:nvPr/>
        </p:nvSpPr>
        <p:spPr>
          <a:xfrm>
            <a:off x="49555" y="221874"/>
            <a:ext cx="49727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spc="38" dirty="0">
                <a:solidFill>
                  <a:srgbClr val="4D5C82"/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Objectives, KPIs and Product Solution</a:t>
            </a:r>
          </a:p>
        </p:txBody>
      </p:sp>
      <p:pic>
        <p:nvPicPr>
          <p:cNvPr id="11" name="Picture 10" hidden="1">
            <a:extLst>
              <a:ext uri="{FF2B5EF4-FFF2-40B4-BE49-F238E27FC236}">
                <a16:creationId xmlns:a16="http://schemas.microsoft.com/office/drawing/2014/main" id="{33BE8647-2AA2-E149-82B7-EE5E80012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828" y="4774633"/>
            <a:ext cx="2118509" cy="2373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6F6E25A-3695-8DD0-2D45-12A218C4EF88}"/>
              </a:ext>
            </a:extLst>
          </p:cNvPr>
          <p:cNvSpPr/>
          <p:nvPr/>
        </p:nvSpPr>
        <p:spPr>
          <a:xfrm rot="5400000">
            <a:off x="4331202" y="330705"/>
            <a:ext cx="481595" cy="9144003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1BB1C9"/>
              </a:gs>
              <a:gs pos="78000">
                <a:srgbClr val="1BB1C9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D7B5AE-8616-1579-8929-A19AB8281CAD}"/>
              </a:ext>
            </a:extLst>
          </p:cNvPr>
          <p:cNvSpPr/>
          <p:nvPr/>
        </p:nvSpPr>
        <p:spPr>
          <a:xfrm rot="5400000">
            <a:off x="4546116" y="-3853558"/>
            <a:ext cx="51765" cy="9144002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1BB1C9"/>
              </a:gs>
              <a:gs pos="78000">
                <a:srgbClr val="1BB1C9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733A9-F87D-9AD0-AF2C-416D01F297BC}"/>
              </a:ext>
            </a:extLst>
          </p:cNvPr>
          <p:cNvSpPr txBox="1"/>
          <p:nvPr/>
        </p:nvSpPr>
        <p:spPr>
          <a:xfrm>
            <a:off x="232635" y="731937"/>
            <a:ext cx="5298695" cy="329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Objective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: Reach competitive writers, who are treating 2L and 3L GIST patients, wherever they are throughout their online journey.</a:t>
            </a:r>
          </a:p>
          <a:p>
            <a:pPr>
              <a:lnSpc>
                <a:spcPct val="150000"/>
              </a:lnSpc>
              <a:buClr>
                <a:srgbClr val="1BB1C9"/>
              </a:buClr>
              <a:buSzPct val="125000"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Solution and Approach: 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Leveraging TI Health’s extensive database and trigger data with monthly alerts to reach high writers of competitive brands (GIST-SPECIFIC).</a:t>
            </a:r>
          </a:p>
          <a:p>
            <a:pPr>
              <a:lnSpc>
                <a:spcPct val="150000"/>
              </a:lnSpc>
              <a:buClr>
                <a:srgbClr val="1BB1C9"/>
              </a:buClr>
              <a:buSzPct val="125000"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Key KPIs: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 Impressions, CTR, Site visits, Net new competitive writers. </a:t>
            </a:r>
          </a:p>
        </p:txBody>
      </p:sp>
    </p:spTree>
    <p:extLst>
      <p:ext uri="{BB962C8B-B14F-4D97-AF65-F5344CB8AC3E}">
        <p14:creationId xmlns:p14="http://schemas.microsoft.com/office/powerpoint/2010/main" val="1320656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E2CD5E-712A-EA4D-9BE8-C507DCB74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968" y="221874"/>
            <a:ext cx="3380032" cy="45765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2CEB774-7289-BC4B-819C-61FAA9D66513}"/>
              </a:ext>
            </a:extLst>
          </p:cNvPr>
          <p:cNvSpPr/>
          <p:nvPr/>
        </p:nvSpPr>
        <p:spPr>
          <a:xfrm>
            <a:off x="1483244" y="14454"/>
            <a:ext cx="7660756" cy="692561"/>
          </a:xfrm>
          <a:prstGeom prst="rect">
            <a:avLst/>
          </a:prstGeom>
          <a:gradFill>
            <a:gsLst>
              <a:gs pos="85000">
                <a:schemeClr val="accent1">
                  <a:lumMod val="5000"/>
                  <a:lumOff val="95000"/>
                </a:schemeClr>
              </a:gs>
              <a:gs pos="63000">
                <a:srgbClr val="FDFEFE">
                  <a:alpha val="0"/>
                </a:srgbClr>
              </a:gs>
              <a:gs pos="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pic>
        <p:nvPicPr>
          <p:cNvPr id="11" name="Picture 10" hidden="1">
            <a:extLst>
              <a:ext uri="{FF2B5EF4-FFF2-40B4-BE49-F238E27FC236}">
                <a16:creationId xmlns:a16="http://schemas.microsoft.com/office/drawing/2014/main" id="{33BE8647-2AA2-E149-82B7-EE5E80012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828" y="4774633"/>
            <a:ext cx="2118509" cy="2373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AFF52F7-669B-D518-F0F9-3AA8007ED16F}"/>
              </a:ext>
            </a:extLst>
          </p:cNvPr>
          <p:cNvSpPr/>
          <p:nvPr/>
        </p:nvSpPr>
        <p:spPr>
          <a:xfrm rot="5400000">
            <a:off x="4331202" y="330705"/>
            <a:ext cx="481595" cy="9144003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1BB1C9"/>
              </a:gs>
              <a:gs pos="78000">
                <a:srgbClr val="1BB1C9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BED606-7A44-E452-75A6-4D41762B583E}"/>
              </a:ext>
            </a:extLst>
          </p:cNvPr>
          <p:cNvSpPr/>
          <p:nvPr/>
        </p:nvSpPr>
        <p:spPr>
          <a:xfrm rot="5400000">
            <a:off x="4546116" y="-3853558"/>
            <a:ext cx="51765" cy="9144002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1BB1C9"/>
              </a:gs>
              <a:gs pos="78000">
                <a:srgbClr val="1BB1C9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700CF0-A0D3-E528-FD88-A878A8EE8150}"/>
              </a:ext>
            </a:extLst>
          </p:cNvPr>
          <p:cNvSpPr txBox="1"/>
          <p:nvPr/>
        </p:nvSpPr>
        <p:spPr>
          <a:xfrm>
            <a:off x="49555" y="221874"/>
            <a:ext cx="49727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spc="38" dirty="0">
                <a:solidFill>
                  <a:srgbClr val="4D5C82"/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Overall Metrics – January to March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9EADF8-1E80-B8FB-EA07-69B0F171238D}"/>
              </a:ext>
            </a:extLst>
          </p:cNvPr>
          <p:cNvSpPr txBox="1"/>
          <p:nvPr/>
        </p:nvSpPr>
        <p:spPr>
          <a:xfrm>
            <a:off x="421662" y="938999"/>
            <a:ext cx="4600683" cy="2930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Contracted Impressions: 500,000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Delivered Impressions: 521,550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Third-Party Clicks: 308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Third-Party CTR: .06% 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Average Viewability: 79%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Total Impressions in PLD: 580,907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TI Health PLD Clicks: 798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TI Health PLD CTR: 0.14%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8D619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09409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E2CD5E-712A-EA4D-9BE8-C507DCB74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969" y="221874"/>
            <a:ext cx="3380031" cy="4576503"/>
          </a:xfrm>
          <a:prstGeom prst="rect">
            <a:avLst/>
          </a:prstGeom>
        </p:spPr>
      </p:pic>
      <p:pic>
        <p:nvPicPr>
          <p:cNvPr id="11" name="Picture 10" hidden="1">
            <a:extLst>
              <a:ext uri="{FF2B5EF4-FFF2-40B4-BE49-F238E27FC236}">
                <a16:creationId xmlns:a16="http://schemas.microsoft.com/office/drawing/2014/main" id="{33BE8647-2AA2-E149-82B7-EE5E80012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828" y="4774633"/>
            <a:ext cx="2118509" cy="2373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9158EF-E2F0-B905-E617-AFCE651C2619}"/>
              </a:ext>
            </a:extLst>
          </p:cNvPr>
          <p:cNvSpPr/>
          <p:nvPr/>
        </p:nvSpPr>
        <p:spPr>
          <a:xfrm rot="5400000">
            <a:off x="4331202" y="330705"/>
            <a:ext cx="481595" cy="9144003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1BB1C9"/>
              </a:gs>
              <a:gs pos="78000">
                <a:srgbClr val="1BB1C9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D9A182-0561-B42F-7EB9-A017496B6057}"/>
              </a:ext>
            </a:extLst>
          </p:cNvPr>
          <p:cNvSpPr/>
          <p:nvPr/>
        </p:nvSpPr>
        <p:spPr>
          <a:xfrm rot="5400000">
            <a:off x="4546116" y="-3853558"/>
            <a:ext cx="51765" cy="9144002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1BB1C9"/>
              </a:gs>
              <a:gs pos="78000">
                <a:srgbClr val="1BB1C9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87081-18F3-CCB1-7D98-11DB5AE61390}"/>
              </a:ext>
            </a:extLst>
          </p:cNvPr>
          <p:cNvSpPr/>
          <p:nvPr/>
        </p:nvSpPr>
        <p:spPr>
          <a:xfrm>
            <a:off x="1483244" y="0"/>
            <a:ext cx="7660756" cy="692561"/>
          </a:xfrm>
          <a:prstGeom prst="rect">
            <a:avLst/>
          </a:prstGeom>
          <a:gradFill>
            <a:gsLst>
              <a:gs pos="85000">
                <a:schemeClr val="accent1">
                  <a:lumMod val="5000"/>
                  <a:lumOff val="95000"/>
                </a:schemeClr>
              </a:gs>
              <a:gs pos="63000">
                <a:srgbClr val="FDFEFE">
                  <a:alpha val="0"/>
                </a:srgbClr>
              </a:gs>
              <a:gs pos="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EF04B9-EDDF-A156-D23E-A9C20291E26D}"/>
              </a:ext>
            </a:extLst>
          </p:cNvPr>
          <p:cNvSpPr txBox="1"/>
          <p:nvPr/>
        </p:nvSpPr>
        <p:spPr>
          <a:xfrm>
            <a:off x="49555" y="221874"/>
            <a:ext cx="49727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spc="38" dirty="0">
                <a:solidFill>
                  <a:srgbClr val="4D5C82"/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Monthly Breakouts - </a:t>
            </a:r>
            <a:r>
              <a:rPr lang="en-US" sz="1500" b="1" spc="38" dirty="0">
                <a:solidFill>
                  <a:srgbClr val="8D619F"/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January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E9396-4CF9-4B01-4661-28A4C041DB4E}"/>
              </a:ext>
            </a:extLst>
          </p:cNvPr>
          <p:cNvSpPr txBox="1"/>
          <p:nvPr/>
        </p:nvSpPr>
        <p:spPr>
          <a:xfrm>
            <a:off x="421662" y="891847"/>
            <a:ext cx="4600683" cy="3438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Contracted Impressions: 172,222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Delivered Impressions : 185,202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Third-Party Clicks: 113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Third-Party CTR: 0.06% 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Total Impressions in PLD: 205,028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TI Health PLD Clicks: 367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TI Health PLD CTR: 0.18%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Total Viewability: 80%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Unique Competitive Writer NPIs: 1,908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Unique NPIs Reached: 1,126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8D619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90255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E2CD5E-712A-EA4D-9BE8-C507DCB74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969" y="221874"/>
            <a:ext cx="3380031" cy="4576503"/>
          </a:xfrm>
          <a:prstGeom prst="rect">
            <a:avLst/>
          </a:prstGeom>
        </p:spPr>
      </p:pic>
      <p:pic>
        <p:nvPicPr>
          <p:cNvPr id="11" name="Picture 10" hidden="1">
            <a:extLst>
              <a:ext uri="{FF2B5EF4-FFF2-40B4-BE49-F238E27FC236}">
                <a16:creationId xmlns:a16="http://schemas.microsoft.com/office/drawing/2014/main" id="{33BE8647-2AA2-E149-82B7-EE5E80012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828" y="4774633"/>
            <a:ext cx="2118509" cy="2373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9158EF-E2F0-B905-E617-AFCE651C2619}"/>
              </a:ext>
            </a:extLst>
          </p:cNvPr>
          <p:cNvSpPr/>
          <p:nvPr/>
        </p:nvSpPr>
        <p:spPr>
          <a:xfrm rot="5400000">
            <a:off x="4331202" y="330705"/>
            <a:ext cx="481595" cy="9144003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1BB1C9"/>
              </a:gs>
              <a:gs pos="78000">
                <a:srgbClr val="1BB1C9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D9A182-0561-B42F-7EB9-A017496B6057}"/>
              </a:ext>
            </a:extLst>
          </p:cNvPr>
          <p:cNvSpPr/>
          <p:nvPr/>
        </p:nvSpPr>
        <p:spPr>
          <a:xfrm rot="5400000">
            <a:off x="4546116" y="-3853558"/>
            <a:ext cx="51765" cy="9144002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1BB1C9"/>
              </a:gs>
              <a:gs pos="78000">
                <a:srgbClr val="1BB1C9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87081-18F3-CCB1-7D98-11DB5AE61390}"/>
              </a:ext>
            </a:extLst>
          </p:cNvPr>
          <p:cNvSpPr/>
          <p:nvPr/>
        </p:nvSpPr>
        <p:spPr>
          <a:xfrm>
            <a:off x="1483244" y="0"/>
            <a:ext cx="7660756" cy="692561"/>
          </a:xfrm>
          <a:prstGeom prst="rect">
            <a:avLst/>
          </a:prstGeom>
          <a:gradFill>
            <a:gsLst>
              <a:gs pos="85000">
                <a:schemeClr val="accent1">
                  <a:lumMod val="5000"/>
                  <a:lumOff val="95000"/>
                </a:schemeClr>
              </a:gs>
              <a:gs pos="63000">
                <a:srgbClr val="FDFEFE">
                  <a:alpha val="0"/>
                </a:srgbClr>
              </a:gs>
              <a:gs pos="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EF04B9-EDDF-A156-D23E-A9C20291E26D}"/>
              </a:ext>
            </a:extLst>
          </p:cNvPr>
          <p:cNvSpPr txBox="1"/>
          <p:nvPr/>
        </p:nvSpPr>
        <p:spPr>
          <a:xfrm>
            <a:off x="49555" y="221874"/>
            <a:ext cx="49727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spc="38" dirty="0">
                <a:solidFill>
                  <a:srgbClr val="4D5C82"/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Monthly Breakouts - </a:t>
            </a:r>
            <a:r>
              <a:rPr lang="en-US" sz="1500" b="1" spc="38" dirty="0">
                <a:solidFill>
                  <a:srgbClr val="8D619F"/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February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E9396-4CF9-4B01-4661-28A4C041DB4E}"/>
              </a:ext>
            </a:extLst>
          </p:cNvPr>
          <p:cNvSpPr txBox="1"/>
          <p:nvPr/>
        </p:nvSpPr>
        <p:spPr>
          <a:xfrm>
            <a:off x="421662" y="891847"/>
            <a:ext cx="4600683" cy="3946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Contracted Impressions: 155,556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Delivered Impressions: 162,936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Third-Party Clicks: 60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Third-Party CTR: 0.04% 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HCPs Added from 1</a:t>
            </a:r>
            <a:r>
              <a:rPr lang="en-US" sz="12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st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 Monthly File: 140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HCPs Added from 2</a:t>
            </a:r>
            <a:r>
              <a:rPr lang="en-US" sz="12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nd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 Monthly File: 300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Total Impressions in PLD: 185,874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TI Health PLD Clicks: 184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TI Health PLD CTR: 0.10%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Total Viewability: 80%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Unique NPIs Reached: 1,018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Net New NPIs Reached: 63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8D619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93516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E2CD5E-712A-EA4D-9BE8-C507DCB74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969" y="221874"/>
            <a:ext cx="3380031" cy="4576503"/>
          </a:xfrm>
          <a:prstGeom prst="rect">
            <a:avLst/>
          </a:prstGeom>
        </p:spPr>
      </p:pic>
      <p:pic>
        <p:nvPicPr>
          <p:cNvPr id="11" name="Picture 10" hidden="1">
            <a:extLst>
              <a:ext uri="{FF2B5EF4-FFF2-40B4-BE49-F238E27FC236}">
                <a16:creationId xmlns:a16="http://schemas.microsoft.com/office/drawing/2014/main" id="{33BE8647-2AA2-E149-82B7-EE5E80012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828" y="4774633"/>
            <a:ext cx="2118509" cy="23735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9158EF-E2F0-B905-E617-AFCE651C2619}"/>
              </a:ext>
            </a:extLst>
          </p:cNvPr>
          <p:cNvSpPr/>
          <p:nvPr/>
        </p:nvSpPr>
        <p:spPr>
          <a:xfrm rot="5400000">
            <a:off x="4331202" y="330705"/>
            <a:ext cx="481595" cy="9144003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1BB1C9"/>
              </a:gs>
              <a:gs pos="78000">
                <a:srgbClr val="1BB1C9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D9A182-0561-B42F-7EB9-A017496B6057}"/>
              </a:ext>
            </a:extLst>
          </p:cNvPr>
          <p:cNvSpPr/>
          <p:nvPr/>
        </p:nvSpPr>
        <p:spPr>
          <a:xfrm rot="5400000">
            <a:off x="4546116" y="-3853558"/>
            <a:ext cx="51765" cy="9144002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1BB1C9"/>
              </a:gs>
              <a:gs pos="78000">
                <a:srgbClr val="1BB1C9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87081-18F3-CCB1-7D98-11DB5AE61390}"/>
              </a:ext>
            </a:extLst>
          </p:cNvPr>
          <p:cNvSpPr/>
          <p:nvPr/>
        </p:nvSpPr>
        <p:spPr>
          <a:xfrm>
            <a:off x="1483244" y="0"/>
            <a:ext cx="7660756" cy="692561"/>
          </a:xfrm>
          <a:prstGeom prst="rect">
            <a:avLst/>
          </a:prstGeom>
          <a:gradFill>
            <a:gsLst>
              <a:gs pos="85000">
                <a:schemeClr val="accent1">
                  <a:lumMod val="5000"/>
                  <a:lumOff val="95000"/>
                </a:schemeClr>
              </a:gs>
              <a:gs pos="63000">
                <a:srgbClr val="FDFEFE">
                  <a:alpha val="0"/>
                </a:srgbClr>
              </a:gs>
              <a:gs pos="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EF04B9-EDDF-A156-D23E-A9C20291E26D}"/>
              </a:ext>
            </a:extLst>
          </p:cNvPr>
          <p:cNvSpPr txBox="1"/>
          <p:nvPr/>
        </p:nvSpPr>
        <p:spPr>
          <a:xfrm>
            <a:off x="49555" y="221874"/>
            <a:ext cx="49727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spc="38" dirty="0">
                <a:solidFill>
                  <a:srgbClr val="4D5C82"/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Monthly Breakouts - </a:t>
            </a:r>
            <a:r>
              <a:rPr lang="en-US" sz="1500" b="1" spc="38" dirty="0">
                <a:solidFill>
                  <a:srgbClr val="8D619F"/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March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E9396-4CF9-4B01-4661-28A4C041DB4E}"/>
              </a:ext>
            </a:extLst>
          </p:cNvPr>
          <p:cNvSpPr txBox="1"/>
          <p:nvPr/>
        </p:nvSpPr>
        <p:spPr>
          <a:xfrm>
            <a:off x="421662" y="891847"/>
            <a:ext cx="4600683" cy="3946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Contracted Impressions: 172,222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Delivered Impressions: 173,589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Third-Party Clicks: 135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Third-Party CTR: 0.08% </a:t>
            </a:r>
          </a:p>
          <a:p>
            <a:pPr>
              <a:lnSpc>
                <a:spcPct val="150000"/>
              </a:lnSpc>
              <a:buClr>
                <a:srgbClr val="1BB1C9"/>
              </a:buClr>
              <a:buSzPct val="125000"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Total Impressions in PLD: 190,005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TI Health PLD Clicks: 247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TI Health PLD CTR: 0.13%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Total Viewability: 76%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Unique NPIs Reached: 1,080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Net New NPIs Reached: 73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HCPs Found That Would Added to April Targeting: 95</a:t>
            </a: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  <a:p>
            <a:pPr marL="285750" indent="-285750">
              <a:lnSpc>
                <a:spcPct val="150000"/>
              </a:lnSpc>
              <a:buClr>
                <a:srgbClr val="1BB1C9"/>
              </a:buClr>
              <a:buSzPct val="1250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8D619F"/>
              </a:solidFill>
              <a:latin typeface="Avenir Book" panose="02000503020000020003" pitchFamily="2" charset="0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33828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9E79696-F5D0-B348-93D3-F26218B19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467" y="221874"/>
            <a:ext cx="5922533" cy="457650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3BF14E-FCC4-6A4E-B14A-FAAF560E2186}"/>
              </a:ext>
            </a:extLst>
          </p:cNvPr>
          <p:cNvSpPr/>
          <p:nvPr/>
        </p:nvSpPr>
        <p:spPr>
          <a:xfrm rot="5400000">
            <a:off x="4331202" y="330705"/>
            <a:ext cx="481595" cy="9144003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1BB1C9"/>
              </a:gs>
              <a:gs pos="78000">
                <a:srgbClr val="1BB1C9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CEB774-7289-BC4B-819C-61FAA9D66513}"/>
              </a:ext>
            </a:extLst>
          </p:cNvPr>
          <p:cNvSpPr/>
          <p:nvPr/>
        </p:nvSpPr>
        <p:spPr>
          <a:xfrm>
            <a:off x="1483244" y="0"/>
            <a:ext cx="7660756" cy="692561"/>
          </a:xfrm>
          <a:prstGeom prst="rect">
            <a:avLst/>
          </a:prstGeom>
          <a:gradFill>
            <a:gsLst>
              <a:gs pos="85000">
                <a:schemeClr val="accent1">
                  <a:lumMod val="5000"/>
                  <a:lumOff val="95000"/>
                </a:schemeClr>
              </a:gs>
              <a:gs pos="63000">
                <a:srgbClr val="FDFEFE">
                  <a:alpha val="0"/>
                </a:srgbClr>
              </a:gs>
              <a:gs pos="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696EC3-DAA5-3A42-A385-E0D0FCE8439B}"/>
              </a:ext>
            </a:extLst>
          </p:cNvPr>
          <p:cNvSpPr/>
          <p:nvPr/>
        </p:nvSpPr>
        <p:spPr>
          <a:xfrm rot="5400000">
            <a:off x="4546116" y="-3853558"/>
            <a:ext cx="51765" cy="9144002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1BB1C9"/>
              </a:gs>
              <a:gs pos="78000">
                <a:srgbClr val="1BB1C9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pic>
        <p:nvPicPr>
          <p:cNvPr id="11" name="Picture 10" hidden="1">
            <a:extLst>
              <a:ext uri="{FF2B5EF4-FFF2-40B4-BE49-F238E27FC236}">
                <a16:creationId xmlns:a16="http://schemas.microsoft.com/office/drawing/2014/main" id="{33BE8647-2AA2-E149-82B7-EE5E80012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828" y="4774633"/>
            <a:ext cx="2118509" cy="237358"/>
          </a:xfrm>
          <a:prstGeom prst="rect">
            <a:avLst/>
          </a:prstGeom>
        </p:spPr>
      </p:pic>
      <p:sp>
        <p:nvSpPr>
          <p:cNvPr id="16" name="Title 2">
            <a:extLst>
              <a:ext uri="{FF2B5EF4-FFF2-40B4-BE49-F238E27FC236}">
                <a16:creationId xmlns:a16="http://schemas.microsoft.com/office/drawing/2014/main" id="{2B6F00CB-CCBA-F34A-8AC9-2629D6449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736" y="828660"/>
            <a:ext cx="3810428" cy="3442860"/>
          </a:xfrm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</a:pPr>
            <a:br>
              <a:rPr lang="en-US" sz="1800" b="1" dirty="0">
                <a:solidFill>
                  <a:srgbClr val="4D5C82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</a:br>
            <a:r>
              <a:rPr lang="en-US" sz="2000" dirty="0">
                <a:solidFill>
                  <a:srgbClr val="8D619F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CBS Sports</a:t>
            </a:r>
            <a:br>
              <a:rPr lang="en-US" sz="2000" dirty="0">
                <a:solidFill>
                  <a:srgbClr val="8D619F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</a:br>
            <a:r>
              <a:rPr lang="en-US" sz="2000" dirty="0">
                <a:solidFill>
                  <a:srgbClr val="8D619F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Delish</a:t>
            </a:r>
            <a:br>
              <a:rPr lang="en-US" sz="2000" dirty="0">
                <a:solidFill>
                  <a:srgbClr val="8D619F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</a:br>
            <a:r>
              <a:rPr lang="en-US" sz="2000" dirty="0">
                <a:solidFill>
                  <a:srgbClr val="8D619F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Forbes</a:t>
            </a:r>
            <a:br>
              <a:rPr lang="en-US" sz="2000" dirty="0">
                <a:solidFill>
                  <a:srgbClr val="8D619F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</a:br>
            <a:r>
              <a:rPr lang="en-US" sz="2000" dirty="0">
                <a:solidFill>
                  <a:srgbClr val="8D619F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The Weather Channel</a:t>
            </a:r>
            <a:br>
              <a:rPr lang="en-US" sz="2000" dirty="0">
                <a:solidFill>
                  <a:srgbClr val="8D619F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</a:br>
            <a:r>
              <a:rPr lang="en-US" sz="2000" dirty="0">
                <a:solidFill>
                  <a:srgbClr val="8D619F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USA Today</a:t>
            </a:r>
            <a:br>
              <a:rPr lang="en-US" sz="2000" dirty="0">
                <a:solidFill>
                  <a:srgbClr val="8D619F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</a:br>
            <a:br>
              <a:rPr lang="en-US" sz="1800" dirty="0">
                <a:solidFill>
                  <a:srgbClr val="8D619F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</a:br>
            <a:endParaRPr lang="en-US" sz="1800" dirty="0">
              <a:solidFill>
                <a:srgbClr val="4D5C82"/>
              </a:solidFill>
              <a:latin typeface="Avenir Book" panose="02000503020000020003" pitchFamily="2" charset="0"/>
              <a:ea typeface="+mn-ea"/>
              <a:cs typeface="Futura Medium" panose="020B0602020204020303" pitchFamily="34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78D33A-2EEF-E080-49ED-A1EB07D2F204}"/>
              </a:ext>
            </a:extLst>
          </p:cNvPr>
          <p:cNvSpPr txBox="1"/>
          <p:nvPr/>
        </p:nvSpPr>
        <p:spPr>
          <a:xfrm>
            <a:off x="49555" y="221874"/>
            <a:ext cx="49727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spc="38" dirty="0">
                <a:solidFill>
                  <a:srgbClr val="4D5C82"/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Sample of Top Performing Domains</a:t>
            </a:r>
          </a:p>
        </p:txBody>
      </p:sp>
    </p:spTree>
    <p:extLst>
      <p:ext uri="{BB962C8B-B14F-4D97-AF65-F5344CB8AC3E}">
        <p14:creationId xmlns:p14="http://schemas.microsoft.com/office/powerpoint/2010/main" val="4046172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80AA78-2EE0-B640-9840-FAEE62BD79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00" r="12521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A9425EB-C732-F34C-AED4-EB0616ED0382}"/>
              </a:ext>
            </a:extLst>
          </p:cNvPr>
          <p:cNvSpPr/>
          <p:nvPr/>
        </p:nvSpPr>
        <p:spPr>
          <a:xfrm>
            <a:off x="2176446" y="12707"/>
            <a:ext cx="6967553" cy="678995"/>
          </a:xfrm>
          <a:prstGeom prst="rect">
            <a:avLst/>
          </a:prstGeom>
          <a:gradFill>
            <a:gsLst>
              <a:gs pos="85000">
                <a:schemeClr val="accent1">
                  <a:lumMod val="5000"/>
                  <a:lumOff val="95000"/>
                </a:schemeClr>
              </a:gs>
              <a:gs pos="63000">
                <a:srgbClr val="FDFEFE">
                  <a:alpha val="0"/>
                </a:srgbClr>
              </a:gs>
              <a:gs pos="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DD133-4BA8-224B-BFC3-46F398D5FCF1}"/>
              </a:ext>
            </a:extLst>
          </p:cNvPr>
          <p:cNvSpPr/>
          <p:nvPr/>
        </p:nvSpPr>
        <p:spPr>
          <a:xfrm rot="5400000" flipH="1">
            <a:off x="4549140" y="129049"/>
            <a:ext cx="45719" cy="9144003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EB1C74"/>
              </a:gs>
              <a:gs pos="78000">
                <a:srgbClr val="EB1C74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3BD4B6-9666-EC44-8AEF-4ED216E28CD2}"/>
              </a:ext>
            </a:extLst>
          </p:cNvPr>
          <p:cNvSpPr/>
          <p:nvPr/>
        </p:nvSpPr>
        <p:spPr>
          <a:xfrm rot="5400000" flipH="1">
            <a:off x="4549138" y="-3844732"/>
            <a:ext cx="45719" cy="9144002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EB1C74"/>
              </a:gs>
              <a:gs pos="78000">
                <a:srgbClr val="EB1C74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C2353B2F-AB9D-394C-9A10-BA136221F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5571" y="1083896"/>
            <a:ext cx="5212851" cy="3389205"/>
          </a:xfrm>
        </p:spPr>
        <p:txBody>
          <a:bodyPr anchor="t">
            <a:normAutofit/>
          </a:bodyPr>
          <a:lstStyle/>
          <a:p>
            <a:pPr>
              <a:lnSpc>
                <a:spcPct val="300000"/>
              </a:lnSpc>
            </a:pPr>
            <a:r>
              <a:rPr lang="en-US" sz="1400" spc="23" dirty="0">
                <a:solidFill>
                  <a:srgbClr val="4D5C82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160 x 600 – 36,014 Imps, 29 Clicks, .08% CTR</a:t>
            </a:r>
            <a:br>
              <a:rPr lang="en-US" sz="1400" spc="23" dirty="0">
                <a:solidFill>
                  <a:srgbClr val="4D5C82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</a:br>
            <a:r>
              <a:rPr lang="en-US" sz="1400" spc="23" dirty="0">
                <a:solidFill>
                  <a:srgbClr val="4D5C82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300 x 250 – 207,296 Imps 138 Clicks, .07% CTR</a:t>
            </a:r>
            <a:br>
              <a:rPr lang="en-US" sz="1400" spc="23" dirty="0">
                <a:solidFill>
                  <a:srgbClr val="4D5C82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</a:br>
            <a:r>
              <a:rPr lang="en-US" sz="1400" spc="23" dirty="0">
                <a:solidFill>
                  <a:srgbClr val="4D5C82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300 x 600 – 21,781 Imps, 42 Clicks, .19% CTR</a:t>
            </a:r>
            <a:br>
              <a:rPr lang="en-US" sz="1400" spc="23" dirty="0">
                <a:solidFill>
                  <a:srgbClr val="4D5C82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</a:br>
            <a:r>
              <a:rPr lang="en-US" sz="1400" spc="23" dirty="0">
                <a:solidFill>
                  <a:srgbClr val="4D5C82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728 x 90- 94,431 Imps, 42 Clicks, .04% CTR</a:t>
            </a:r>
            <a:br>
              <a:rPr lang="en-US" sz="1400" spc="23" dirty="0">
                <a:solidFill>
                  <a:srgbClr val="4D5C82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</a:br>
            <a:endParaRPr lang="en-US" sz="1400" spc="23" dirty="0">
              <a:solidFill>
                <a:srgbClr val="4D5C82"/>
              </a:solidFill>
              <a:latin typeface="Avenir Book" panose="02000503020000020003" pitchFamily="2" charset="0"/>
              <a:ea typeface="+mn-ea"/>
              <a:cs typeface="Futura Medium" panose="020B0602020204020303" pitchFamily="34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65DA6E-C307-E07F-44D0-6CF07FBE8503}"/>
              </a:ext>
            </a:extLst>
          </p:cNvPr>
          <p:cNvSpPr txBox="1"/>
          <p:nvPr/>
        </p:nvSpPr>
        <p:spPr>
          <a:xfrm>
            <a:off x="49555" y="221874"/>
            <a:ext cx="49727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spc="38" dirty="0">
                <a:solidFill>
                  <a:srgbClr val="4D5C82"/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Overall Creative Size Breakout</a:t>
            </a:r>
          </a:p>
        </p:txBody>
      </p:sp>
    </p:spTree>
    <p:extLst>
      <p:ext uri="{BB962C8B-B14F-4D97-AF65-F5344CB8AC3E}">
        <p14:creationId xmlns:p14="http://schemas.microsoft.com/office/powerpoint/2010/main" val="811996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80AA78-2EE0-B640-9840-FAEE62BD79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00" r="12521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A9425EB-C732-F34C-AED4-EB0616ED0382}"/>
              </a:ext>
            </a:extLst>
          </p:cNvPr>
          <p:cNvSpPr/>
          <p:nvPr/>
        </p:nvSpPr>
        <p:spPr>
          <a:xfrm>
            <a:off x="2286000" y="-286"/>
            <a:ext cx="6856082" cy="678995"/>
          </a:xfrm>
          <a:prstGeom prst="rect">
            <a:avLst/>
          </a:prstGeom>
          <a:gradFill>
            <a:gsLst>
              <a:gs pos="85000">
                <a:schemeClr val="accent1">
                  <a:lumMod val="5000"/>
                  <a:lumOff val="95000"/>
                </a:schemeClr>
              </a:gs>
              <a:gs pos="63000">
                <a:srgbClr val="FDFEFE">
                  <a:alpha val="0"/>
                </a:srgbClr>
              </a:gs>
              <a:gs pos="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BDD133-4BA8-224B-BFC3-46F398D5FCF1}"/>
              </a:ext>
            </a:extLst>
          </p:cNvPr>
          <p:cNvSpPr/>
          <p:nvPr/>
        </p:nvSpPr>
        <p:spPr>
          <a:xfrm rot="5400000" flipH="1">
            <a:off x="4547220" y="117618"/>
            <a:ext cx="45719" cy="9144001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EB1C74"/>
              </a:gs>
              <a:gs pos="78000">
                <a:srgbClr val="EB1C74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3F1C1240-E485-4E4C-B6E2-0C2C5C9E71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5578449"/>
              </p:ext>
            </p:extLst>
          </p:nvPr>
        </p:nvGraphicFramePr>
        <p:xfrm>
          <a:off x="1704402" y="2341534"/>
          <a:ext cx="5738119" cy="2062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itle 2">
            <a:extLst>
              <a:ext uri="{FF2B5EF4-FFF2-40B4-BE49-F238E27FC236}">
                <a16:creationId xmlns:a16="http://schemas.microsoft.com/office/drawing/2014/main" id="{55B8D44B-E8ED-614F-BEE0-2E6F06A492C8}"/>
              </a:ext>
            </a:extLst>
          </p:cNvPr>
          <p:cNvSpPr txBox="1">
            <a:spLocks/>
          </p:cNvSpPr>
          <p:nvPr/>
        </p:nvSpPr>
        <p:spPr>
          <a:xfrm>
            <a:off x="3095089" y="2037928"/>
            <a:ext cx="3024455" cy="303606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200" b="1" dirty="0">
                <a:solidFill>
                  <a:srgbClr val="4D5C82"/>
                </a:solidFill>
                <a:latin typeface="Avenir Book" panose="02000503020000020003" pitchFamily="2" charset="0"/>
              </a:rPr>
              <a:t>PLD CTR Benchmark is above .10%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362955-C1A4-C34D-900A-2A9BF9D65E05}"/>
              </a:ext>
            </a:extLst>
          </p:cNvPr>
          <p:cNvCxnSpPr/>
          <p:nvPr/>
        </p:nvCxnSpPr>
        <p:spPr>
          <a:xfrm>
            <a:off x="1468241" y="1803115"/>
            <a:ext cx="6128215" cy="0"/>
          </a:xfrm>
          <a:prstGeom prst="line">
            <a:avLst/>
          </a:prstGeom>
          <a:ln w="19050">
            <a:solidFill>
              <a:srgbClr val="8D619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0C9A900-71DB-543B-2313-6509C6B3A0BF}"/>
              </a:ext>
            </a:extLst>
          </p:cNvPr>
          <p:cNvSpPr/>
          <p:nvPr/>
        </p:nvSpPr>
        <p:spPr>
          <a:xfrm rot="5400000" flipH="1">
            <a:off x="4549138" y="-3844732"/>
            <a:ext cx="45719" cy="9144002"/>
          </a:xfrm>
          <a:prstGeom prst="rect">
            <a:avLst/>
          </a:prstGeom>
          <a:gradFill flip="none" rotWithShape="1">
            <a:gsLst>
              <a:gs pos="0">
                <a:srgbClr val="8D619F"/>
              </a:gs>
              <a:gs pos="48000">
                <a:srgbClr val="EB1C74"/>
              </a:gs>
              <a:gs pos="78000">
                <a:srgbClr val="EB1C74"/>
              </a:gs>
              <a:gs pos="100000">
                <a:srgbClr val="8D61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81E49-8FD7-06C4-5504-0935BEFFC4FC}"/>
              </a:ext>
            </a:extLst>
          </p:cNvPr>
          <p:cNvSpPr txBox="1"/>
          <p:nvPr/>
        </p:nvSpPr>
        <p:spPr>
          <a:xfrm>
            <a:off x="49555" y="221874"/>
            <a:ext cx="49727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spc="38" dirty="0">
                <a:solidFill>
                  <a:srgbClr val="4D5C82"/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Additional Campaign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6FDFB-3A2C-4C22-7C4D-736EAD16BA2D}"/>
              </a:ext>
            </a:extLst>
          </p:cNvPr>
          <p:cNvSpPr txBox="1"/>
          <p:nvPr/>
        </p:nvSpPr>
        <p:spPr>
          <a:xfrm>
            <a:off x="407007" y="1076222"/>
            <a:ext cx="3757985" cy="61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Unique Cumulative NPIs Reached: </a:t>
            </a:r>
            <a:r>
              <a:rPr lang="en-US" sz="1200" dirty="0">
                <a:solidFill>
                  <a:srgbClr val="28B3CA"/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1,262</a:t>
            </a:r>
            <a:endParaRPr lang="en-US" sz="1200" dirty="0">
              <a:solidFill>
                <a:srgbClr val="4D5C82"/>
              </a:solidFill>
              <a:latin typeface="Avenir Book" panose="02000503020000020003" pitchFamily="2" charset="0"/>
              <a:ea typeface="+mn-ea"/>
              <a:cs typeface="Futura Medium" panose="020B0602020204020303" pitchFamily="34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D5C82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We Matched </a:t>
            </a:r>
            <a:r>
              <a:rPr lang="en-US" sz="1200" dirty="0">
                <a:solidFill>
                  <a:srgbClr val="28B3CA"/>
                </a:solidFill>
                <a:latin typeface="Avenir Book" panose="02000503020000020003" pitchFamily="2" charset="0"/>
                <a:cs typeface="Futura Medium" panose="020B0602020204020303" pitchFamily="34" charset="-79"/>
              </a:rPr>
              <a:t>48.11</a:t>
            </a:r>
            <a:r>
              <a:rPr lang="en-US" sz="1200" dirty="0">
                <a:solidFill>
                  <a:srgbClr val="28B3CA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%</a:t>
            </a:r>
            <a:r>
              <a:rPr lang="en-US" sz="1200" dirty="0">
                <a:solidFill>
                  <a:srgbClr val="4D5C82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 overall of the target list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4419C2-5C4C-DBDC-184F-E8718B2986AD}"/>
              </a:ext>
            </a:extLst>
          </p:cNvPr>
          <p:cNvSpPr txBox="1"/>
          <p:nvPr/>
        </p:nvSpPr>
        <p:spPr>
          <a:xfrm>
            <a:off x="4164992" y="1060919"/>
            <a:ext cx="5441995" cy="622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D5C82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Best weekdays for CTR &amp; Click Volume:</a:t>
            </a:r>
            <a:r>
              <a:rPr lang="en-US" sz="1200" dirty="0">
                <a:solidFill>
                  <a:srgbClr val="28B3CA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 Thursdays/Fridays</a:t>
            </a:r>
            <a:endParaRPr lang="en-US" sz="1200" dirty="0">
              <a:solidFill>
                <a:srgbClr val="4D5C82"/>
              </a:solidFill>
              <a:latin typeface="Avenir Book" panose="02000503020000020003" pitchFamily="2" charset="0"/>
              <a:ea typeface="+mn-ea"/>
              <a:cs typeface="Futura Medium" panose="020B0602020204020303" pitchFamily="34" charset="-79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D5C82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Best time of day: </a:t>
            </a:r>
            <a:r>
              <a:rPr lang="en-US" sz="1200" dirty="0">
                <a:solidFill>
                  <a:srgbClr val="28B3CA"/>
                </a:solidFill>
                <a:latin typeface="Avenir Book" panose="02000503020000020003" pitchFamily="2" charset="0"/>
                <a:ea typeface="+mn-ea"/>
                <a:cs typeface="Futura Medium" panose="020B0602020204020303" pitchFamily="34" charset="-79"/>
              </a:rPr>
              <a:t>Mornings, 8 – 11 AM</a:t>
            </a:r>
            <a:endParaRPr lang="en-US" sz="1200" dirty="0">
              <a:solidFill>
                <a:srgbClr val="4D5C82"/>
              </a:solidFill>
              <a:latin typeface="Avenir Book" panose="02000503020000020003" pitchFamily="2" charset="0"/>
              <a:ea typeface="+mn-ea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07001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C72DA176-1C54-30CF-033F-6DD05F9C9514}"/>
              </a:ext>
            </a:extLst>
          </p:cNvPr>
          <p:cNvSpPr txBox="1">
            <a:spLocks/>
          </p:cNvSpPr>
          <p:nvPr/>
        </p:nvSpPr>
        <p:spPr>
          <a:xfrm>
            <a:off x="684322" y="1768760"/>
            <a:ext cx="2322419" cy="930511"/>
          </a:xfrm>
          <a:prstGeom prst="rect">
            <a:avLst/>
          </a:prstGeom>
        </p:spPr>
        <p:txBody>
          <a:bodyPr wrap="square" l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1" u="none" strike="noStrike" cap="none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2pPr marL="5588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defRPr>
            </a:lvl2pPr>
            <a:lvl3pPr marL="10287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defRPr>
            </a:lvl3pPr>
            <a:lvl4pPr marL="1498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defRPr>
            </a:lvl4pPr>
            <a:lvl5pPr marL="1955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2400" b="0" i="0" u="none" strike="noStrike" cap="none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Tianna Fougeray</a:t>
            </a:r>
          </a:p>
          <a:p>
            <a:r>
              <a:rPr lang="en-US" dirty="0"/>
              <a:t>Account Manager</a:t>
            </a:r>
          </a:p>
          <a:p>
            <a:r>
              <a:rPr lang="en-US" dirty="0"/>
              <a:t>tfougeray@swoop.com</a:t>
            </a:r>
          </a:p>
        </p:txBody>
      </p:sp>
    </p:spTree>
    <p:extLst>
      <p:ext uri="{BB962C8B-B14F-4D97-AF65-F5344CB8AC3E}">
        <p14:creationId xmlns:p14="http://schemas.microsoft.com/office/powerpoint/2010/main" val="149965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PM">
      <a:dk1>
        <a:srgbClr val="000000"/>
      </a:dk1>
      <a:lt1>
        <a:srgbClr val="FFFFFF"/>
      </a:lt1>
      <a:dk2>
        <a:srgbClr val="003870"/>
      </a:dk2>
      <a:lt2>
        <a:srgbClr val="CCCCCC"/>
      </a:lt2>
      <a:accent1>
        <a:srgbClr val="007FC7"/>
      </a:accent1>
      <a:accent2>
        <a:srgbClr val="A7A9AC"/>
      </a:accent2>
      <a:accent3>
        <a:srgbClr val="0066B3"/>
      </a:accent3>
      <a:accent4>
        <a:srgbClr val="12243B"/>
      </a:accent4>
      <a:accent5>
        <a:srgbClr val="003870"/>
      </a:accent5>
      <a:accent6>
        <a:srgbClr val="CCDB2F"/>
      </a:accent6>
      <a:hlink>
        <a:srgbClr val="0066B3"/>
      </a:hlink>
      <a:folHlink>
        <a:srgbClr val="00387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31136</TotalTime>
  <Words>469</Words>
  <Application>Microsoft Macintosh PowerPoint</Application>
  <PresentationFormat>On-screen Show (16:9)</PresentationFormat>
  <Paragraphs>80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Calibri</vt:lpstr>
      <vt:lpstr>Avenir Book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CBS Sports Delish Forbes The Weather Channel USA Today  </vt:lpstr>
      <vt:lpstr>160 x 600 – 36,014 Imps, 29 Clicks, .08% CTR 300 x 250 – 207,296 Imps 138 Clicks, .07% CTR 300 x 600 – 21,781 Imps, 42 Clicks, .19% CTR 728 x 90- 94,431 Imps, 42 Clicks, .04% CTR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 Shimberg</dc:creator>
  <cp:lastModifiedBy>Tianna Fougeray</cp:lastModifiedBy>
  <cp:revision>304</cp:revision>
  <dcterms:created xsi:type="dcterms:W3CDTF">2017-11-19T15:35:36Z</dcterms:created>
  <dcterms:modified xsi:type="dcterms:W3CDTF">2024-06-23T20:03:56Z</dcterms:modified>
</cp:coreProperties>
</file>